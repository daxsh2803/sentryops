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728655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4400" b="1">
                <a:solidFill>
                  <a:srgbClr val="38BDF8"/>
                </a:solidFill>
                <a:latin typeface="Segoe UI"/>
              </a:defRPr>
            </a:pPr>
            <a:r>
              <a:t>SentryOps</a:t>
            </a:r>
          </a:p>
          <a:p>
            <a:pPr>
              <a:spcAft>
                <a:spcPts val="1200"/>
              </a:spcAft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Autonomous Multi-Agent Production Incident Response &amp; Root Cause Analysis Platform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017520"/>
            <a:ext cx="10728655" cy="274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3291840"/>
            <a:ext cx="3429000" cy="310896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200" b="1">
                <a:solidFill>
                  <a:srgbClr val="38BDF8"/>
                </a:solidFill>
                <a:latin typeface="Segoe UI"/>
              </a:defRPr>
            </a:pPr>
            <a:r>
              <a:t>OPERATIONAL DOMAIN</a:t>
            </a:r>
          </a:p>
          <a:p>
            <a:pPr>
              <a:defRPr>
                <a:latin typeface="Segoe UI"/>
              </a:defRPr>
            </a:pPr>
            <a:r>
              <a:rPr sz="1250" b="0">
                <a:solidFill>
                  <a:srgbClr val="F1F5F9"/>
                </a:solidFill>
                <a:latin typeface="Segoe UI"/>
              </a:rPr>
              <a:t>• </a:t>
            </a:r>
            <a:r>
              <a:rPr sz="1250" b="1">
                <a:solidFill>
                  <a:srgbClr val="FFFFFF"/>
                </a:solidFill>
                <a:latin typeface="Segoe UI"/>
              </a:rPr>
              <a:t>Site Reliability Engineering (SRE)</a:t>
            </a:r>
            <a:r>
              <a:rPr sz="1250" b="0">
                <a:solidFill>
                  <a:srgbClr val="F1F5F9"/>
                </a:solidFill>
                <a:latin typeface="Segoe UI"/>
              </a:rPr>
              <a:t>: Autonomous incident triage and dynamic mitigation.</a:t>
            </a:r>
          </a:p>
          <a:p>
            <a:pPr>
              <a:defRPr>
                <a:latin typeface="Segoe UI"/>
              </a:defRPr>
            </a:pPr>
            <a:r>
              <a:rPr sz="1250" b="0">
                <a:solidFill>
                  <a:srgbClr val="F1F5F9"/>
                </a:solidFill>
                <a:latin typeface="Segoe UI"/>
              </a:rPr>
              <a:t>• </a:t>
            </a:r>
            <a:r>
              <a:rPr sz="1250" b="1">
                <a:solidFill>
                  <a:srgbClr val="FFFFFF"/>
                </a:solidFill>
                <a:latin typeface="Segoe UI"/>
              </a:rPr>
              <a:t>Unified Observability</a:t>
            </a:r>
            <a:r>
              <a:rPr sz="1250" b="0">
                <a:solidFill>
                  <a:srgbClr val="F1F5F9"/>
                </a:solidFill>
                <a:latin typeface="Segoe UI"/>
              </a:rPr>
              <a:t>: Tri-modal correlation across metrics, logs, and traces.</a:t>
            </a:r>
          </a:p>
          <a:p>
            <a:pPr>
              <a:defRPr>
                <a:latin typeface="Segoe UI"/>
              </a:defRPr>
            </a:pPr>
            <a:r>
              <a:rPr sz="1250" b="0">
                <a:solidFill>
                  <a:srgbClr val="F1F5F9"/>
                </a:solidFill>
                <a:latin typeface="Segoe UI"/>
              </a:rPr>
              <a:t>• </a:t>
            </a:r>
            <a:r>
              <a:rPr sz="1250" b="1">
                <a:solidFill>
                  <a:srgbClr val="FFFFFF"/>
                </a:solidFill>
                <a:latin typeface="Segoe UI"/>
              </a:rPr>
              <a:t>Enterprise Safety</a:t>
            </a:r>
            <a:r>
              <a:rPr sz="1250" b="0">
                <a:solidFill>
                  <a:srgbClr val="F1F5F9"/>
                </a:solidFill>
                <a:latin typeface="Segoe UI"/>
              </a:rPr>
              <a:t>: Rigorous human-in-the-loop approvals before infrastructure change.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79976" y="3291840"/>
            <a:ext cx="3429000" cy="310896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200" b="1">
                <a:solidFill>
                  <a:srgbClr val="38BDF8"/>
                </a:solidFill>
                <a:latin typeface="Segoe UI"/>
              </a:defRPr>
            </a:pPr>
            <a:r>
              <a:t>CORE ARCHITECTURE</a:t>
            </a:r>
          </a:p>
          <a:p>
            <a:pPr>
              <a:defRPr>
                <a:latin typeface="Segoe UI"/>
              </a:defRPr>
            </a:pPr>
            <a:r>
              <a:rPr sz="1250" b="0">
                <a:solidFill>
                  <a:srgbClr val="F1F5F9"/>
                </a:solidFill>
                <a:latin typeface="Segoe UI"/>
              </a:rPr>
              <a:t>• </a:t>
            </a:r>
            <a:r>
              <a:rPr sz="1250" b="1">
                <a:solidFill>
                  <a:srgbClr val="FFFFFF"/>
                </a:solidFill>
                <a:latin typeface="Segoe UI"/>
              </a:rPr>
              <a:t>Agent Orchestration</a:t>
            </a:r>
            <a:r>
              <a:rPr sz="1250" b="0">
                <a:solidFill>
                  <a:srgbClr val="F1F5F9"/>
                </a:solidFill>
                <a:latin typeface="Segoe UI"/>
              </a:rPr>
              <a:t>: Python 3.11+ with LangGraph state graph coordination.</a:t>
            </a:r>
          </a:p>
          <a:p>
            <a:pPr>
              <a:defRPr>
                <a:latin typeface="Segoe UI"/>
              </a:defRPr>
            </a:pPr>
            <a:r>
              <a:rPr sz="1250" b="0">
                <a:solidFill>
                  <a:srgbClr val="F1F5F9"/>
                </a:solidFill>
                <a:latin typeface="Segoe UI"/>
              </a:rPr>
              <a:t>• </a:t>
            </a:r>
            <a:r>
              <a:rPr sz="1250" b="1">
                <a:solidFill>
                  <a:srgbClr val="FFFFFF"/>
                </a:solidFill>
                <a:latin typeface="Segoe UI"/>
              </a:rPr>
              <a:t>Frontend &amp; Storage</a:t>
            </a:r>
            <a:r>
              <a:rPr sz="1250" b="0">
                <a:solidFill>
                  <a:srgbClr val="F1F5F9"/>
                </a:solidFill>
                <a:latin typeface="Segoe UI"/>
              </a:rPr>
              <a:t>: React 19, TypeScript, PostgreSQL 15 + pgvector for RAG.</a:t>
            </a:r>
          </a:p>
          <a:p>
            <a:pPr>
              <a:defRPr>
                <a:latin typeface="Segoe UI"/>
              </a:defRPr>
            </a:pPr>
            <a:r>
              <a:rPr sz="1250" b="0">
                <a:solidFill>
                  <a:srgbClr val="F1F5F9"/>
                </a:solidFill>
                <a:latin typeface="Segoe UI"/>
              </a:rPr>
              <a:t>• </a:t>
            </a:r>
            <a:r>
              <a:rPr sz="1250" b="1">
                <a:solidFill>
                  <a:srgbClr val="FFFFFF"/>
                </a:solidFill>
                <a:latin typeface="Segoe UI"/>
              </a:rPr>
              <a:t>Infrastructure</a:t>
            </a:r>
            <a:r>
              <a:rPr sz="1250" b="0">
                <a:solidFill>
                  <a:srgbClr val="F1F5F9"/>
                </a:solidFill>
                <a:latin typeface="Segoe UI"/>
              </a:rPr>
              <a:t>: Kubernetes cluster (Kind) with Prometheus, Loki, Jaeger &amp; Grafana.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28431" y="3291840"/>
            <a:ext cx="3429000" cy="310896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200" b="1">
                <a:solidFill>
                  <a:srgbClr val="38BDF8"/>
                </a:solidFill>
                <a:latin typeface="Segoe UI"/>
              </a:defRPr>
            </a:pPr>
            <a:r>
              <a:t>GOVERNING PRINCIPLE</a:t>
            </a:r>
          </a:p>
          <a:p>
            <a:pPr>
              <a:defRPr>
                <a:latin typeface="Segoe UI"/>
              </a:defRPr>
            </a:pPr>
            <a:r>
              <a:rPr sz="1250" b="0">
                <a:solidFill>
                  <a:srgbClr val="F1F5F9"/>
                </a:solidFill>
                <a:latin typeface="Segoe UI"/>
              </a:rPr>
              <a:t>• </a:t>
            </a:r>
            <a:r>
              <a:rPr sz="1250" b="1">
                <a:solidFill>
                  <a:srgbClr val="FFFFFF"/>
                </a:solidFill>
                <a:latin typeface="Segoe UI"/>
              </a:rPr>
              <a:t>Empowered AI Investigation</a:t>
            </a:r>
            <a:r>
              <a:rPr sz="1250" b="0">
                <a:solidFill>
                  <a:srgbClr val="F1F5F9"/>
                </a:solidFill>
                <a:latin typeface="Segoe UI"/>
              </a:rPr>
              <a:t>: Parallel investigative reasoning across telemetry stores.</a:t>
            </a:r>
          </a:p>
          <a:p>
            <a:pPr>
              <a:defRPr>
                <a:latin typeface="Segoe UI"/>
              </a:defRPr>
            </a:pPr>
            <a:r>
              <a:rPr sz="1250" b="0">
                <a:solidFill>
                  <a:srgbClr val="F1F5F9"/>
                </a:solidFill>
                <a:latin typeface="Segoe UI"/>
              </a:rPr>
              <a:t>• </a:t>
            </a:r>
            <a:r>
              <a:rPr sz="1250" b="1">
                <a:solidFill>
                  <a:srgbClr val="FFFFFF"/>
                </a:solidFill>
                <a:latin typeface="Segoe UI"/>
              </a:rPr>
              <a:t>Strict Deterministic Guardrails</a:t>
            </a:r>
            <a:r>
              <a:rPr sz="1250" b="0">
                <a:solidFill>
                  <a:srgbClr val="F1F5F9"/>
                </a:solidFill>
                <a:latin typeface="Segoe UI"/>
              </a:rPr>
              <a:t>: Hardcoded safety rules, zero direct cluster actuation.</a:t>
            </a:r>
          </a:p>
          <a:p>
            <a:pPr>
              <a:defRPr>
                <a:latin typeface="Segoe UI"/>
              </a:defRPr>
            </a:pPr>
            <a:r>
              <a:rPr sz="1250" b="0">
                <a:solidFill>
                  <a:srgbClr val="F1F5F9"/>
                </a:solidFill>
                <a:latin typeface="Segoe UI"/>
              </a:rPr>
              <a:t>• </a:t>
            </a:r>
            <a:r>
              <a:rPr sz="1250" b="1">
                <a:solidFill>
                  <a:srgbClr val="FFFFFF"/>
                </a:solidFill>
                <a:latin typeface="Segoe UI"/>
              </a:rPr>
              <a:t>Anti-Hallucination Gate</a:t>
            </a:r>
            <a:r>
              <a:rPr sz="1250" b="0">
                <a:solidFill>
                  <a:srgbClr val="F1F5F9"/>
                </a:solidFill>
                <a:latin typeface="Segoe UI"/>
              </a:rPr>
              <a:t>: Evidence IDs verified against ground truth before RCA generation.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2400" b="1">
                <a:solidFill>
                  <a:srgbClr val="FFFFFF"/>
                </a:solidFill>
                <a:latin typeface="Segoe UI"/>
              </a:defRPr>
            </a:pPr>
            <a:r>
              <a:t>The Modern Production Incident Dilemma</a:t>
            </a:r>
          </a:p>
          <a:p>
            <a:pPr>
              <a:defRPr sz="1300" b="0">
                <a:solidFill>
                  <a:srgbClr val="38BDF8"/>
                </a:solidFill>
                <a:latin typeface="Segoe UI"/>
              </a:defRPr>
            </a:pPr>
            <a:r>
              <a:t>Operational Bottlenecks in Modern Cloud-Native Microservices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429000" cy="493776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spcAft>
                <a:spcPts val="1000"/>
              </a:spcAft>
              <a:defRPr sz="1300" b="1">
                <a:solidFill>
                  <a:srgbClr val="38BDF8"/>
                </a:solidFill>
              </a:defRPr>
            </a:pPr>
            <a:r>
              <a:t>FRAGMENTED TELEMETRY</a:t>
            </a:r>
          </a:p>
          <a:p>
            <a:pPr>
              <a:defRPr>
                <a:latin typeface="Segoe UI"/>
              </a:defRPr>
            </a:pPr>
            <a:r>
              <a:rPr sz="1300" b="0">
                <a:solidFill>
                  <a:srgbClr val="F1F5F9"/>
                </a:solidFill>
                <a:latin typeface="Segoe UI"/>
              </a:rPr>
              <a:t>• </a:t>
            </a:r>
            <a:r>
              <a:rPr sz="1300" b="1">
                <a:solidFill>
                  <a:srgbClr val="FFFFFF"/>
                </a:solidFill>
                <a:latin typeface="Segoe UI"/>
              </a:rPr>
              <a:t>Alert Storms &amp; Noise</a:t>
            </a:r>
            <a:r>
              <a:rPr sz="1300" b="0">
                <a:solidFill>
                  <a:srgbClr val="F1F5F9"/>
                </a:solidFill>
                <a:latin typeface="Segoe UI"/>
              </a:rPr>
              <a:t>: High-severity incidents trigger cascading alerts across dozens of decoupled microservices.</a:t>
            </a:r>
          </a:p>
          <a:p>
            <a:pPr>
              <a:defRPr>
                <a:latin typeface="Segoe UI"/>
              </a:defRPr>
            </a:pPr>
            <a:r>
              <a:rPr sz="1300" b="0">
                <a:solidFill>
                  <a:srgbClr val="F1F5F9"/>
                </a:solidFill>
                <a:latin typeface="Segoe UI"/>
              </a:rPr>
              <a:t>• </a:t>
            </a:r>
            <a:r>
              <a:rPr sz="1300" b="1">
                <a:solidFill>
                  <a:srgbClr val="FFFFFF"/>
                </a:solidFill>
                <a:latin typeface="Segoe UI"/>
              </a:rPr>
              <a:t>Context Switching</a:t>
            </a:r>
            <a:r>
              <a:rPr sz="1300" b="0">
                <a:solidFill>
                  <a:srgbClr val="F1F5F9"/>
                </a:solidFill>
                <a:latin typeface="Segoe UI"/>
              </a:rPr>
              <a:t>: On-call engineers waste critical minutes manually correlating logs across Loki, metrics across Prometheus, and traces across Jaeger.</a:t>
            </a:r>
          </a:p>
          <a:p>
            <a:pPr>
              <a:defRPr>
                <a:latin typeface="Segoe UI"/>
              </a:defRPr>
            </a:pPr>
            <a:r>
              <a:rPr sz="1300" b="0">
                <a:solidFill>
                  <a:srgbClr val="F1F5F9"/>
                </a:solidFill>
                <a:latin typeface="Segoe UI"/>
              </a:rPr>
              <a:t>• </a:t>
            </a:r>
            <a:r>
              <a:rPr sz="1300" b="1">
                <a:solidFill>
                  <a:srgbClr val="FFFFFF"/>
                </a:solidFill>
                <a:latin typeface="Segoe UI"/>
              </a:rPr>
              <a:t>Siloed Insights</a:t>
            </a:r>
            <a:r>
              <a:rPr sz="1300" b="0">
                <a:solidFill>
                  <a:srgbClr val="F1F5F9"/>
                </a:solidFill>
                <a:latin typeface="Segoe UI"/>
              </a:rPr>
              <a:t>: Lack of unified causality mapping delays diagnosis.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79976" y="1463040"/>
            <a:ext cx="3429000" cy="493776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spcAft>
                <a:spcPts val="1000"/>
              </a:spcAft>
              <a:defRPr sz="1300" b="1">
                <a:solidFill>
                  <a:srgbClr val="38BDF8"/>
                </a:solidFill>
              </a:defRPr>
            </a:pPr>
            <a:r>
              <a:t>PROLONGED MTTR</a:t>
            </a:r>
          </a:p>
          <a:p>
            <a:pPr>
              <a:defRPr>
                <a:latin typeface="Segoe UI"/>
              </a:defRPr>
            </a:pPr>
            <a:r>
              <a:rPr sz="1300" b="0">
                <a:solidFill>
                  <a:srgbClr val="F1F5F9"/>
                </a:solidFill>
                <a:latin typeface="Segoe UI"/>
              </a:rPr>
              <a:t>• </a:t>
            </a:r>
            <a:r>
              <a:rPr sz="1300" b="1">
                <a:solidFill>
                  <a:srgbClr val="FFFFFF"/>
                </a:solidFill>
                <a:latin typeface="Segoe UI"/>
              </a:rPr>
              <a:t>80%+ Diagnosis Overhead</a:t>
            </a:r>
            <a:r>
              <a:rPr sz="1300" b="0">
                <a:solidFill>
                  <a:srgbClr val="F1F5F9"/>
                </a:solidFill>
                <a:latin typeface="Segoe UI"/>
              </a:rPr>
              <a:t>: In complex distributed architectures, identifying the root cause consumes the majority of incident recovery time.</a:t>
            </a:r>
          </a:p>
          <a:p>
            <a:pPr>
              <a:defRPr>
                <a:latin typeface="Segoe UI"/>
              </a:defRPr>
            </a:pPr>
            <a:r>
              <a:rPr sz="1300" b="0">
                <a:solidFill>
                  <a:srgbClr val="F1F5F9"/>
                </a:solidFill>
                <a:latin typeface="Segoe UI"/>
              </a:rPr>
              <a:t>• </a:t>
            </a:r>
            <a:r>
              <a:rPr sz="1300" b="1">
                <a:solidFill>
                  <a:srgbClr val="FFFFFF"/>
                </a:solidFill>
                <a:latin typeface="Segoe UI"/>
              </a:rPr>
              <a:t>Runbook Retrieval Latency</a:t>
            </a:r>
            <a:r>
              <a:rPr sz="1300" b="0">
                <a:solidFill>
                  <a:srgbClr val="F1F5F9"/>
                </a:solidFill>
                <a:latin typeface="Segoe UI"/>
              </a:rPr>
              <a:t>: Relevant operational runbooks and historical postmortems are rarely surfaced when outages strike.</a:t>
            </a:r>
          </a:p>
          <a:p>
            <a:pPr>
              <a:defRPr>
                <a:latin typeface="Segoe UI"/>
              </a:defRPr>
            </a:pPr>
            <a:r>
              <a:rPr sz="1300" b="0">
                <a:solidFill>
                  <a:srgbClr val="F1F5F9"/>
                </a:solidFill>
                <a:latin typeface="Segoe UI"/>
              </a:rPr>
              <a:t>• </a:t>
            </a:r>
            <a:r>
              <a:rPr sz="1300" b="1">
                <a:solidFill>
                  <a:srgbClr val="FFFFFF"/>
                </a:solidFill>
                <a:latin typeface="Segoe UI"/>
              </a:rPr>
              <a:t>Cognitive Burnout</a:t>
            </a:r>
            <a:r>
              <a:rPr sz="1300" b="0">
                <a:solidFill>
                  <a:srgbClr val="F1F5F9"/>
                </a:solidFill>
                <a:latin typeface="Segoe UI"/>
              </a:rPr>
              <a:t>: High-stress manual triage increases operator mistakes under severe SLA pressure.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28431" y="1463040"/>
            <a:ext cx="3429000" cy="493776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spcAft>
                <a:spcPts val="1000"/>
              </a:spcAft>
              <a:defRPr sz="1300" b="1">
                <a:solidFill>
                  <a:srgbClr val="FBBF24"/>
                </a:solidFill>
              </a:defRPr>
            </a:pPr>
            <a:r>
              <a:t>UNCONSTRAINED AI RISKS</a:t>
            </a:r>
          </a:p>
          <a:p>
            <a:pPr>
              <a:defRPr>
                <a:latin typeface="Segoe UI"/>
              </a:defRPr>
            </a:pPr>
            <a:r>
              <a:rPr sz="1300" b="0">
                <a:solidFill>
                  <a:srgbClr val="F1F5F9"/>
                </a:solidFill>
                <a:latin typeface="Segoe UI"/>
              </a:rPr>
              <a:t>• </a:t>
            </a:r>
            <a:r>
              <a:rPr sz="1300" b="1">
                <a:solidFill>
                  <a:srgbClr val="FFFFFF"/>
                </a:solidFill>
                <a:latin typeface="Segoe UI"/>
              </a:rPr>
              <a:t>Hallucinated Commands</a:t>
            </a:r>
            <a:r>
              <a:rPr sz="1300" b="0">
                <a:solidFill>
                  <a:srgbClr val="F1F5F9"/>
                </a:solidFill>
                <a:latin typeface="Segoe UI"/>
              </a:rPr>
              <a:t>: Giving an LLM direct shell access or raw kubectl execution creates catastrophic reliability risks.</a:t>
            </a:r>
          </a:p>
          <a:p>
            <a:pPr>
              <a:defRPr>
                <a:latin typeface="Segoe UI"/>
              </a:defRPr>
            </a:pPr>
            <a:r>
              <a:rPr sz="1300" b="0">
                <a:solidFill>
                  <a:srgbClr val="F1F5F9"/>
                </a:solidFill>
                <a:latin typeface="Segoe UI"/>
              </a:rPr>
              <a:t>• </a:t>
            </a:r>
            <a:r>
              <a:rPr sz="1300" b="1">
                <a:solidFill>
                  <a:srgbClr val="FFFFFF"/>
                </a:solidFill>
                <a:latin typeface="Segoe UI"/>
              </a:rPr>
              <a:t>Cascading Outages</a:t>
            </a:r>
            <a:r>
              <a:rPr sz="1300" b="0">
                <a:solidFill>
                  <a:srgbClr val="F1F5F9"/>
                </a:solidFill>
                <a:latin typeface="Segoe UI"/>
              </a:rPr>
              <a:t>: Unbounded autonomous remediation can accidentally delete databases or terminate healthy services.</a:t>
            </a:r>
          </a:p>
          <a:p>
            <a:pPr>
              <a:defRPr>
                <a:latin typeface="Segoe UI"/>
              </a:defRPr>
            </a:pPr>
            <a:r>
              <a:rPr sz="1300" b="0">
                <a:solidFill>
                  <a:srgbClr val="F1F5F9"/>
                </a:solidFill>
                <a:latin typeface="Segoe UI"/>
              </a:rPr>
              <a:t>• </a:t>
            </a:r>
            <a:r>
              <a:rPr sz="1300" b="1">
                <a:solidFill>
                  <a:srgbClr val="FFFFFF"/>
                </a:solidFill>
                <a:latin typeface="Segoe UI"/>
              </a:rPr>
              <a:t>Missing Auditability</a:t>
            </a:r>
            <a:r>
              <a:rPr sz="1300" b="0">
                <a:solidFill>
                  <a:srgbClr val="F1F5F9"/>
                </a:solidFill>
                <a:latin typeface="Segoe UI"/>
              </a:rPr>
              <a:t>: Autonomous black-box actions violate compliance, governance, and organizational change controls.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2400" b="1">
                <a:solidFill>
                  <a:srgbClr val="FFFFFF"/>
                </a:solidFill>
                <a:latin typeface="Segoe UI"/>
              </a:defRPr>
            </a:pPr>
            <a:r>
              <a:t>The SentryOps Solution</a:t>
            </a:r>
          </a:p>
          <a:p>
            <a:pPr>
              <a:defRPr sz="1300" b="0">
                <a:solidFill>
                  <a:srgbClr val="38BDF8"/>
                </a:solidFill>
                <a:latin typeface="Segoe UI"/>
              </a:defRPr>
            </a:pPr>
            <a:r>
              <a:t>End-to-End Autonomous Incident Lifecycle with Deterministic Safety Guardrails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12080" cy="49377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Bef>
                <a:spcPts val="0"/>
              </a:spcBef>
              <a:spcAft>
                <a:spcPts val="300"/>
              </a:spcAft>
              <a:defRPr>
                <a:latin typeface="Segoe UI"/>
              </a:defRPr>
            </a:pPr>
            <a:r>
              <a:rPr sz="1350" b="0">
                <a:solidFill>
                  <a:srgbClr val="F1F5F9"/>
                </a:solidFill>
                <a:latin typeface="Segoe UI"/>
              </a:rPr>
              <a:t>• </a:t>
            </a:r>
            <a:r>
              <a:rPr sz="1350" b="1">
                <a:solidFill>
                  <a:srgbClr val="FFFFFF"/>
                </a:solidFill>
                <a:latin typeface="Segoe UI"/>
              </a:rPr>
              <a:t>Simulated Production Architecture</a:t>
            </a:r>
            <a:r>
              <a:rPr sz="1350" b="0">
                <a:solidFill>
                  <a:srgbClr val="F1F5F9"/>
                </a:solidFill>
                <a:latin typeface="Segoe UI"/>
              </a:rPr>
              <a:t>: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>
                <a:latin typeface="Segoe UI"/>
              </a:defRPr>
            </a:pPr>
            <a:r>
              <a:rPr sz="1200" b="0">
                <a:solidFill>
                  <a:srgbClr val="F1F5F9"/>
                </a:solidFill>
                <a:latin typeface="Segoe UI"/>
              </a:rPr>
              <a:t>– 5 FastAPI microservices (`order`, `payment`, `notification`, `user`, `api-gateway`).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>
                <a:latin typeface="Segoe UI"/>
              </a:defRPr>
            </a:pPr>
            <a:r>
              <a:rPr sz="1200" b="0">
                <a:solidFill>
                  <a:srgbClr val="F1F5F9"/>
                </a:solidFill>
                <a:latin typeface="Segoe UI"/>
              </a:rPr>
              <a:t>– Dynamic fault-injection API running inside the Kubernetes cluster on port 8005.</a:t>
            </a:r>
          </a:p>
          <a:p>
            <a:pPr>
              <a:spcBef>
                <a:spcPts val="500"/>
              </a:spcBef>
              <a:spcAft>
                <a:spcPts val="300"/>
              </a:spcAft>
              <a:defRPr>
                <a:latin typeface="Segoe UI"/>
              </a:defRPr>
            </a:pPr>
            <a:r>
              <a:rPr sz="1350" b="0">
                <a:solidFill>
                  <a:srgbClr val="F1F5F9"/>
                </a:solidFill>
                <a:latin typeface="Segoe UI"/>
              </a:rPr>
              <a:t>• </a:t>
            </a:r>
            <a:r>
              <a:rPr sz="1350" b="1">
                <a:solidFill>
                  <a:srgbClr val="FFFFFF"/>
                </a:solidFill>
                <a:latin typeface="Segoe UI"/>
              </a:rPr>
              <a:t>End-to-End Observability Pipeline</a:t>
            </a:r>
            <a:r>
              <a:rPr sz="1350" b="0">
                <a:solidFill>
                  <a:srgbClr val="F1F5F9"/>
                </a:solidFill>
                <a:latin typeface="Segoe UI"/>
              </a:rPr>
              <a:t>: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>
                <a:latin typeface="Segoe UI"/>
              </a:defRPr>
            </a:pPr>
            <a:r>
              <a:rPr sz="1200" b="0">
                <a:solidFill>
                  <a:srgbClr val="F1F5F9"/>
                </a:solidFill>
                <a:latin typeface="Segoe UI"/>
              </a:rPr>
              <a:t>– Full OpenTelemetry instrumentation across all routes.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>
                <a:latin typeface="Segoe UI"/>
              </a:defRPr>
            </a:pPr>
            <a:r>
              <a:rPr sz="1200" b="0">
                <a:solidFill>
                  <a:srgbClr val="F1F5F9"/>
                </a:solidFill>
                <a:latin typeface="Segoe UI"/>
              </a:rPr>
              <a:t>– Real-time Prometheus metrics, Loki structured log streaming, and Jaeger distributed traces visualized in Grafana.</a:t>
            </a:r>
          </a:p>
          <a:p>
            <a:pPr>
              <a:spcBef>
                <a:spcPts val="500"/>
              </a:spcBef>
              <a:spcAft>
                <a:spcPts val="300"/>
              </a:spcAft>
              <a:defRPr>
                <a:latin typeface="Segoe UI"/>
              </a:defRPr>
            </a:pPr>
            <a:r>
              <a:rPr sz="1350" b="0">
                <a:solidFill>
                  <a:srgbClr val="F1F5F9"/>
                </a:solidFill>
                <a:latin typeface="Segoe UI"/>
              </a:rPr>
              <a:t>• </a:t>
            </a:r>
            <a:r>
              <a:rPr sz="1350" b="1">
                <a:solidFill>
                  <a:srgbClr val="FFFFFF"/>
                </a:solidFill>
                <a:latin typeface="Segoe UI"/>
              </a:rPr>
              <a:t>Parallel Multi-Agent Orchestration</a:t>
            </a:r>
            <a:r>
              <a:rPr sz="1350" b="0">
                <a:solidFill>
                  <a:srgbClr val="F1F5F9"/>
                </a:solidFill>
                <a:latin typeface="Segoe UI"/>
              </a:rPr>
              <a:t>: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>
                <a:latin typeface="Segoe UI"/>
              </a:defRPr>
            </a:pPr>
            <a:r>
              <a:rPr sz="1200" b="0">
                <a:solidFill>
                  <a:srgbClr val="F1F5F9"/>
                </a:solidFill>
                <a:latin typeface="Segoe UI"/>
              </a:rPr>
              <a:t>– LangGraph manages specialized agents with structured fan-in synthesis.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45352" y="1463040"/>
            <a:ext cx="5212080" cy="49377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Bef>
                <a:spcPts val="0"/>
              </a:spcBef>
              <a:spcAft>
                <a:spcPts val="300"/>
              </a:spcAft>
              <a:defRPr>
                <a:latin typeface="Segoe UI"/>
              </a:defRPr>
            </a:pPr>
            <a:r>
              <a:rPr sz="1350" b="0">
                <a:solidFill>
                  <a:srgbClr val="F1F5F9"/>
                </a:solidFill>
                <a:latin typeface="Segoe UI"/>
              </a:rPr>
              <a:t>• </a:t>
            </a:r>
            <a:r>
              <a:rPr sz="1350" b="1">
                <a:solidFill>
                  <a:srgbClr val="FFFFFF"/>
                </a:solidFill>
                <a:latin typeface="Segoe UI"/>
              </a:rPr>
              <a:t>Deterministic Safety Guardrails</a:t>
            </a:r>
            <a:r>
              <a:rPr sz="1350" b="0">
                <a:solidFill>
                  <a:srgbClr val="F1F5F9"/>
                </a:solidFill>
                <a:latin typeface="Segoe UI"/>
              </a:rPr>
              <a:t>: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>
                <a:latin typeface="Segoe UI"/>
              </a:defRPr>
            </a:pPr>
            <a:r>
              <a:rPr sz="1200" b="0">
                <a:solidFill>
                  <a:srgbClr val="F1F5F9"/>
                </a:solidFill>
                <a:latin typeface="Segoe UI"/>
              </a:rPr>
              <a:t>– </a:t>
            </a:r>
            <a:r>
              <a:rPr sz="1200" b="1">
                <a:solidFill>
                  <a:srgbClr val="FFFFFF"/>
                </a:solidFill>
                <a:latin typeface="Segoe UI"/>
              </a:rPr>
              <a:t>Strict Allowlist</a:t>
            </a:r>
            <a:r>
              <a:rPr sz="1200" b="0">
                <a:solidFill>
                  <a:srgbClr val="F1F5F9"/>
                </a:solidFill>
                <a:latin typeface="Segoe UI"/>
              </a:rPr>
              <a:t>: Remediations limited exclusively to `RESTART_SERVICE`, `SCALE_SERVICE`, and `ROLLBACK_SERVICE`.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>
                <a:latin typeface="Segoe UI"/>
              </a:defRPr>
            </a:pPr>
            <a:r>
              <a:rPr sz="1200" b="0">
                <a:solidFill>
                  <a:srgbClr val="F1F5F9"/>
                </a:solidFill>
                <a:latin typeface="Segoe UI"/>
              </a:rPr>
              <a:t>– </a:t>
            </a:r>
            <a:r>
              <a:rPr sz="1200" b="1">
                <a:solidFill>
                  <a:srgbClr val="FFFFFF"/>
                </a:solidFill>
                <a:latin typeface="Segoe UI"/>
              </a:rPr>
              <a:t>Non-LLM Risk Engine</a:t>
            </a:r>
            <a:r>
              <a:rPr sz="1200" b="0">
                <a:solidFill>
                  <a:srgbClr val="F1F5F9"/>
                </a:solidFill>
                <a:latin typeface="Segoe UI"/>
              </a:rPr>
              <a:t>: Deterministic rules classify actions (`LOW`, `MEDIUM`, `HIGH`) independently of LLM reasoning.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>
                <a:latin typeface="Segoe UI"/>
              </a:defRPr>
            </a:pPr>
            <a:r>
              <a:rPr sz="1200" b="0">
                <a:solidFill>
                  <a:srgbClr val="F1F5F9"/>
                </a:solidFill>
                <a:latin typeface="Segoe UI"/>
              </a:rPr>
              <a:t>– </a:t>
            </a:r>
            <a:r>
              <a:rPr sz="1200" b="1">
                <a:solidFill>
                  <a:srgbClr val="FFFFFF"/>
                </a:solidFill>
                <a:latin typeface="Segoe UI"/>
              </a:rPr>
              <a:t>Mandatory Human Approval Gate</a:t>
            </a:r>
            <a:r>
              <a:rPr sz="1200" b="0">
                <a:solidFill>
                  <a:srgbClr val="F1F5F9"/>
                </a:solidFill>
                <a:latin typeface="Segoe UI"/>
              </a:rPr>
              <a:t>: All medium and high-risk proposals halt at `PENDING_APPROVAL`.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>
                <a:latin typeface="Segoe UI"/>
              </a:defRPr>
            </a:pPr>
            <a:r>
              <a:rPr sz="1200" b="0">
                <a:solidFill>
                  <a:srgbClr val="F1F5F9"/>
                </a:solidFill>
                <a:latin typeface="Segoe UI"/>
              </a:rPr>
              <a:t>– </a:t>
            </a:r>
            <a:r>
              <a:rPr sz="1200" b="1">
                <a:solidFill>
                  <a:srgbClr val="FFFFFF"/>
                </a:solidFill>
                <a:latin typeface="Segoe UI"/>
              </a:rPr>
              <a:t>Zero Cluster Actuation</a:t>
            </a:r>
            <a:r>
              <a:rPr sz="1200" b="0">
                <a:solidFill>
                  <a:srgbClr val="F1F5F9"/>
                </a:solidFill>
                <a:latin typeface="Segoe UI"/>
              </a:rPr>
              <a:t>: Agents operate against `SIMULATED_INFRA_STATE` without direct `kubectl` privilege.</a:t>
            </a:r>
          </a:p>
          <a:p>
            <a:pPr>
              <a:spcBef>
                <a:spcPts val="500"/>
              </a:spcBef>
              <a:spcAft>
                <a:spcPts val="300"/>
              </a:spcAft>
              <a:defRPr>
                <a:latin typeface="Segoe UI"/>
              </a:defRPr>
            </a:pPr>
            <a:r>
              <a:rPr sz="1350" b="0">
                <a:solidFill>
                  <a:srgbClr val="F1F5F9"/>
                </a:solidFill>
                <a:latin typeface="Segoe UI"/>
              </a:rPr>
              <a:t>• </a:t>
            </a:r>
            <a:r>
              <a:rPr sz="1350" b="1">
                <a:solidFill>
                  <a:srgbClr val="FFFFFF"/>
                </a:solidFill>
                <a:latin typeface="Segoe UI"/>
              </a:rPr>
              <a:t>Automated Verification &amp; Postmortem</a:t>
            </a:r>
            <a:r>
              <a:rPr sz="1350" b="0">
                <a:solidFill>
                  <a:srgbClr val="F1F5F9"/>
                </a:solidFill>
                <a:latin typeface="Segoe UI"/>
              </a:rPr>
              <a:t>: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>
                <a:latin typeface="Segoe UI"/>
              </a:defRPr>
            </a:pPr>
            <a:r>
              <a:rPr sz="1200" b="0">
                <a:solidFill>
                  <a:srgbClr val="F1F5F9"/>
                </a:solidFill>
                <a:latin typeface="Segoe UI"/>
              </a:rPr>
              <a:t>– Post-remediation health checks verify recovery and compile structured postmortems.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2400" b="1">
                <a:solidFill>
                  <a:srgbClr val="FFFFFF"/>
                </a:solidFill>
                <a:latin typeface="Segoe UI"/>
              </a:defRPr>
            </a:pPr>
            <a:r>
              <a:t>Multi-Agent Parallel Investigation</a:t>
            </a:r>
          </a:p>
          <a:p>
            <a:pPr>
              <a:defRPr sz="1300" b="0">
                <a:solidFill>
                  <a:srgbClr val="38BDF8"/>
                </a:solidFill>
                <a:latin typeface="Segoe UI"/>
              </a:defRPr>
            </a:pPr>
            <a:r>
              <a:t>LangGraph Fan-Out / Fan-In Investigative Workflow &amp; Anti-Hallucination Gates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12080" cy="49377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Bef>
                <a:spcPts val="0"/>
              </a:spcBef>
              <a:spcAft>
                <a:spcPts val="300"/>
              </a:spcAft>
              <a:defRPr>
                <a:latin typeface="Segoe UI"/>
              </a:defRPr>
            </a:pPr>
            <a:r>
              <a:rPr sz="1300" b="0">
                <a:solidFill>
                  <a:srgbClr val="F1F5F9"/>
                </a:solidFill>
                <a:latin typeface="Segoe UI"/>
              </a:rPr>
              <a:t>• </a:t>
            </a:r>
            <a:r>
              <a:rPr sz="1300" b="1">
                <a:solidFill>
                  <a:srgbClr val="FFFFFF"/>
                </a:solidFill>
                <a:latin typeface="Segoe UI"/>
              </a:rPr>
              <a:t>Incident Trigger &amp; Dispatch</a:t>
            </a:r>
            <a:r>
              <a:rPr sz="1300" b="0">
                <a:solidFill>
                  <a:srgbClr val="F1F5F9"/>
                </a:solidFill>
                <a:latin typeface="Segoe UI"/>
              </a:rPr>
              <a:t>: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>
                <a:latin typeface="Segoe UI"/>
              </a:defRPr>
            </a:pPr>
            <a:r>
              <a:rPr sz="1150" b="0">
                <a:solidFill>
                  <a:srgbClr val="F1F5F9"/>
                </a:solidFill>
                <a:latin typeface="Segoe UI"/>
              </a:rPr>
              <a:t>– Outage detected via error-rate threshold or synthetic fault API.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>
                <a:latin typeface="Segoe UI"/>
              </a:defRPr>
            </a:pPr>
            <a:r>
              <a:rPr sz="1150" b="0">
                <a:solidFill>
                  <a:srgbClr val="F1F5F9"/>
                </a:solidFill>
                <a:latin typeface="Segoe UI"/>
              </a:rPr>
              <a:t>– `IncidentManager` spawns parallel investigation across 6 specialized agents.</a:t>
            </a:r>
          </a:p>
          <a:p>
            <a:pPr>
              <a:spcBef>
                <a:spcPts val="500"/>
              </a:spcBef>
              <a:spcAft>
                <a:spcPts val="300"/>
              </a:spcAft>
              <a:defRPr>
                <a:latin typeface="Segoe UI"/>
              </a:defRPr>
            </a:pPr>
            <a:r>
              <a:rPr sz="1300" b="0">
                <a:solidFill>
                  <a:srgbClr val="F1F5F9"/>
                </a:solidFill>
                <a:latin typeface="Segoe UI"/>
              </a:rPr>
              <a:t>• </a:t>
            </a:r>
            <a:r>
              <a:rPr sz="1300" b="1">
                <a:solidFill>
                  <a:srgbClr val="FFFFFF"/>
                </a:solidFill>
                <a:latin typeface="Segoe UI"/>
              </a:rPr>
              <a:t>Parallel Specialized Agents (Fan-Out)</a:t>
            </a:r>
            <a:r>
              <a:rPr sz="1300" b="0">
                <a:solidFill>
                  <a:srgbClr val="F1F5F9"/>
                </a:solidFill>
                <a:latin typeface="Segoe UI"/>
              </a:rPr>
              <a:t>: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>
                <a:latin typeface="Segoe UI"/>
              </a:defRPr>
            </a:pPr>
            <a:r>
              <a:rPr sz="1150" b="0">
                <a:solidFill>
                  <a:srgbClr val="F1F5F9"/>
                </a:solidFill>
                <a:latin typeface="Segoe UI"/>
              </a:rPr>
              <a:t>– </a:t>
            </a:r>
            <a:r>
              <a:rPr sz="1150" b="1">
                <a:solidFill>
                  <a:srgbClr val="FFFFFF"/>
                </a:solidFill>
                <a:latin typeface="Segoe UI"/>
              </a:rPr>
              <a:t>LogAgent</a:t>
            </a:r>
            <a:r>
              <a:rPr sz="1150" b="0">
                <a:solidFill>
                  <a:srgbClr val="F1F5F9"/>
                </a:solidFill>
                <a:latin typeface="Segoe UI"/>
              </a:rPr>
              <a:t>: Queries Loki for error stacks, 5xx status codes, and exceptions.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>
                <a:latin typeface="Segoe UI"/>
              </a:defRPr>
            </a:pPr>
            <a:r>
              <a:rPr sz="1150" b="0">
                <a:solidFill>
                  <a:srgbClr val="F1F5F9"/>
                </a:solidFill>
                <a:latin typeface="Segoe UI"/>
              </a:rPr>
              <a:t>– </a:t>
            </a:r>
            <a:r>
              <a:rPr sz="1150" b="1">
                <a:solidFill>
                  <a:srgbClr val="FFFFFF"/>
                </a:solidFill>
                <a:latin typeface="Segoe UI"/>
              </a:rPr>
              <a:t>MetricAgent</a:t>
            </a:r>
            <a:r>
              <a:rPr sz="1150" b="0">
                <a:solidFill>
                  <a:srgbClr val="F1F5F9"/>
                </a:solidFill>
                <a:latin typeface="Segoe UI"/>
              </a:rPr>
              <a:t>: Queries Prometheus for error rate spikes and P95 latency.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>
                <a:latin typeface="Segoe UI"/>
              </a:defRPr>
            </a:pPr>
            <a:r>
              <a:rPr sz="1150" b="0">
                <a:solidFill>
                  <a:srgbClr val="F1F5F9"/>
                </a:solidFill>
                <a:latin typeface="Segoe UI"/>
              </a:rPr>
              <a:t>– </a:t>
            </a:r>
            <a:r>
              <a:rPr sz="1150" b="1">
                <a:solidFill>
                  <a:srgbClr val="FFFFFF"/>
                </a:solidFill>
                <a:latin typeface="Segoe UI"/>
              </a:rPr>
              <a:t>TraceAgent</a:t>
            </a:r>
            <a:r>
              <a:rPr sz="1150" b="0">
                <a:solidFill>
                  <a:srgbClr val="F1F5F9"/>
                </a:solidFill>
                <a:latin typeface="Segoe UI"/>
              </a:rPr>
              <a:t>: Queries Jaeger for error spans, tags, and trace waterfalls.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>
                <a:latin typeface="Segoe UI"/>
              </a:defRPr>
            </a:pPr>
            <a:r>
              <a:rPr sz="1150" b="0">
                <a:solidFill>
                  <a:srgbClr val="F1F5F9"/>
                </a:solidFill>
                <a:latin typeface="Segoe UI"/>
              </a:rPr>
              <a:t>– </a:t>
            </a:r>
            <a:r>
              <a:rPr sz="1150" b="1">
                <a:solidFill>
                  <a:srgbClr val="FFFFFF"/>
                </a:solidFill>
                <a:latin typeface="Segoe UI"/>
              </a:rPr>
              <a:t>DeploymentAgent</a:t>
            </a:r>
            <a:r>
              <a:rPr sz="1150" b="0">
                <a:solidFill>
                  <a:srgbClr val="F1F5F9"/>
                </a:solidFill>
                <a:latin typeface="Segoe UI"/>
              </a:rPr>
              <a:t>: Checks recent config changes, releases, and fault flags.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>
                <a:latin typeface="Segoe UI"/>
              </a:defRPr>
            </a:pPr>
            <a:r>
              <a:rPr sz="1150" b="0">
                <a:solidFill>
                  <a:srgbClr val="F1F5F9"/>
                </a:solidFill>
                <a:latin typeface="Segoe UI"/>
              </a:rPr>
              <a:t>– </a:t>
            </a:r>
            <a:r>
              <a:rPr sz="1150" b="1">
                <a:solidFill>
                  <a:srgbClr val="FFFFFF"/>
                </a:solidFill>
                <a:latin typeface="Segoe UI"/>
              </a:rPr>
              <a:t>InfraAgent</a:t>
            </a:r>
            <a:r>
              <a:rPr sz="1150" b="0">
                <a:solidFill>
                  <a:srgbClr val="F1F5F9"/>
                </a:solidFill>
                <a:latin typeface="Segoe UI"/>
              </a:rPr>
              <a:t>: Scrapes node memory, CPU, and pod restart health.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>
                <a:latin typeface="Segoe UI"/>
              </a:defRPr>
            </a:pPr>
            <a:r>
              <a:rPr sz="1150" b="0">
                <a:solidFill>
                  <a:srgbClr val="F1F5F9"/>
                </a:solidFill>
                <a:latin typeface="Segoe UI"/>
              </a:rPr>
              <a:t>– </a:t>
            </a:r>
            <a:r>
              <a:rPr sz="1150" b="1">
                <a:solidFill>
                  <a:srgbClr val="FFFFFF"/>
                </a:solidFill>
                <a:latin typeface="Segoe UI"/>
              </a:rPr>
              <a:t>KnowledgeAgent</a:t>
            </a:r>
            <a:r>
              <a:rPr sz="1150" b="0">
                <a:solidFill>
                  <a:srgbClr val="F1F5F9"/>
                </a:solidFill>
                <a:latin typeface="Segoe UI"/>
              </a:rPr>
              <a:t>: Retrieves relevant historical runbooks via pgvector RAG.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45352" y="1463040"/>
            <a:ext cx="5212080" cy="49377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Bef>
                <a:spcPts val="0"/>
              </a:spcBef>
              <a:spcAft>
                <a:spcPts val="300"/>
              </a:spcAft>
              <a:defRPr>
                <a:latin typeface="Segoe UI"/>
              </a:defRPr>
            </a:pPr>
            <a:r>
              <a:rPr sz="1300" b="0">
                <a:solidFill>
                  <a:srgbClr val="F1F5F9"/>
                </a:solidFill>
                <a:latin typeface="Segoe UI"/>
              </a:rPr>
              <a:t>• </a:t>
            </a:r>
            <a:r>
              <a:rPr sz="1300" b="1">
                <a:solidFill>
                  <a:srgbClr val="FFFFFF"/>
                </a:solidFill>
                <a:latin typeface="Segoe UI"/>
              </a:rPr>
              <a:t>Structured Synthesis (Fan-In)</a:t>
            </a:r>
            <a:r>
              <a:rPr sz="1300" b="0">
                <a:solidFill>
                  <a:srgbClr val="F1F5F9"/>
                </a:solidFill>
                <a:latin typeface="Segoe UI"/>
              </a:rPr>
              <a:t>: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>
                <a:latin typeface="Segoe UI"/>
              </a:defRPr>
            </a:pPr>
            <a:r>
              <a:rPr sz="1150" b="0">
                <a:solidFill>
                  <a:srgbClr val="F1F5F9"/>
                </a:solidFill>
                <a:latin typeface="Segoe UI"/>
              </a:rPr>
              <a:t>– Specialized agents populate a centralized incident evidence store.</a:t>
            </a:r>
          </a:p>
          <a:p>
            <a:pPr>
              <a:spcBef>
                <a:spcPts val="500"/>
              </a:spcBef>
              <a:spcAft>
                <a:spcPts val="300"/>
              </a:spcAft>
              <a:defRPr>
                <a:latin typeface="Segoe UI"/>
              </a:defRPr>
            </a:pPr>
            <a:r>
              <a:rPr sz="1300" b="0">
                <a:solidFill>
                  <a:srgbClr val="F1F5F9"/>
                </a:solidFill>
                <a:latin typeface="Segoe UI"/>
              </a:rPr>
              <a:t>• </a:t>
            </a:r>
            <a:r>
              <a:rPr sz="1300" b="1">
                <a:solidFill>
                  <a:srgbClr val="FFFFFF"/>
                </a:solidFill>
                <a:latin typeface="Segoe UI"/>
              </a:rPr>
              <a:t>RCA Agent &amp; Anti-Hallucination Gate</a:t>
            </a:r>
            <a:r>
              <a:rPr sz="1300" b="0">
                <a:solidFill>
                  <a:srgbClr val="F1F5F9"/>
                </a:solidFill>
                <a:latin typeface="Segoe UI"/>
              </a:rPr>
              <a:t>: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>
                <a:latin typeface="Segoe UI"/>
              </a:defRPr>
            </a:pPr>
            <a:r>
              <a:rPr sz="1150" b="0">
                <a:solidFill>
                  <a:srgbClr val="F1F5F9"/>
                </a:solidFill>
                <a:latin typeface="Segoe UI"/>
              </a:rPr>
              <a:t>– Performs evidence linkage and cross-source causal synthesis.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>
                <a:latin typeface="Segoe UI"/>
              </a:defRPr>
            </a:pPr>
            <a:r>
              <a:rPr sz="1150" b="0">
                <a:solidFill>
                  <a:srgbClr val="F1F5F9"/>
                </a:solidFill>
                <a:latin typeface="Segoe UI"/>
              </a:rPr>
              <a:t>– </a:t>
            </a:r>
            <a:r>
              <a:rPr sz="1150" b="1">
                <a:solidFill>
                  <a:srgbClr val="FFFFFF"/>
                </a:solidFill>
                <a:latin typeface="Segoe UI"/>
              </a:rPr>
              <a:t>Strict Validation Gate</a:t>
            </a:r>
            <a:r>
              <a:rPr sz="1150" b="0">
                <a:solidFill>
                  <a:srgbClr val="F1F5F9"/>
                </a:solidFill>
                <a:latin typeface="Segoe UI"/>
              </a:rPr>
              <a:t>: The RCA Agent algorithmically validates that all cited evidence IDs exist in the evidence store before conclusions are finalized.</a:t>
            </a:r>
          </a:p>
          <a:p>
            <a:pPr>
              <a:spcBef>
                <a:spcPts val="500"/>
              </a:spcBef>
              <a:spcAft>
                <a:spcPts val="300"/>
              </a:spcAft>
              <a:defRPr>
                <a:latin typeface="Segoe UI"/>
              </a:defRPr>
            </a:pPr>
            <a:r>
              <a:rPr sz="1300" b="0">
                <a:solidFill>
                  <a:srgbClr val="F1F5F9"/>
                </a:solidFill>
                <a:latin typeface="Segoe UI"/>
              </a:rPr>
              <a:t>• </a:t>
            </a:r>
            <a:r>
              <a:rPr sz="1300" b="1">
                <a:solidFill>
                  <a:srgbClr val="FFFFFF"/>
                </a:solidFill>
                <a:latin typeface="Segoe UI"/>
              </a:rPr>
              <a:t>RemediationAgent &amp; Risk Policy</a:t>
            </a:r>
            <a:r>
              <a:rPr sz="1300" b="0">
                <a:solidFill>
                  <a:srgbClr val="F1F5F9"/>
                </a:solidFill>
                <a:latin typeface="Segoe UI"/>
              </a:rPr>
              <a:t>: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>
                <a:latin typeface="Segoe UI"/>
              </a:defRPr>
            </a:pPr>
            <a:r>
              <a:rPr sz="1150" b="0">
                <a:solidFill>
                  <a:srgbClr val="F1F5F9"/>
                </a:solidFill>
                <a:latin typeface="Segoe UI"/>
              </a:rPr>
              <a:t>– Formulates structured mitigation action matching the RCA hypothesis.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>
                <a:latin typeface="Segoe UI"/>
              </a:defRPr>
            </a:pPr>
            <a:r>
              <a:rPr sz="1150" b="0">
                <a:solidFill>
                  <a:srgbClr val="F1F5F9"/>
                </a:solidFill>
                <a:latin typeface="Segoe UI"/>
              </a:rPr>
              <a:t>– Enforces deterministic risk assessment before any action can proceed.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2400" b="1">
                <a:solidFill>
                  <a:srgbClr val="FFFFFF"/>
                </a:solidFill>
                <a:latin typeface="Segoe UI"/>
              </a:defRPr>
            </a:pPr>
            <a:r>
              <a:t>Deterministic Risk Policy &amp; Approval Gate</a:t>
            </a:r>
          </a:p>
          <a:p>
            <a:pPr>
              <a:defRPr sz="1300" b="0">
                <a:solidFill>
                  <a:srgbClr val="38BDF8"/>
                </a:solidFill>
                <a:latin typeface="Segoe UI"/>
              </a:defRPr>
            </a:pPr>
            <a:r>
              <a:t>Human-in-the-Loop Operational Safety Classification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429000" cy="2468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sz="1300" b="1">
                <a:solidFill>
                  <a:srgbClr val="34D399"/>
                </a:solidFill>
              </a:defRPr>
            </a:pPr>
            <a:r>
              <a:t>LOW RISK POLICY</a:t>
            </a:r>
          </a:p>
          <a:p>
            <a:pPr>
              <a:defRPr>
                <a:latin typeface="Segoe UI"/>
              </a:defRPr>
            </a:pPr>
            <a:r>
              <a:rPr sz="1300" b="0">
                <a:solidFill>
                  <a:srgbClr val="F1F5F9"/>
                </a:solidFill>
                <a:latin typeface="Segoe UI"/>
              </a:rPr>
              <a:t>• </a:t>
            </a:r>
            <a:r>
              <a:rPr sz="1300" b="1">
                <a:solidFill>
                  <a:srgbClr val="FFFFFF"/>
                </a:solidFill>
                <a:latin typeface="Segoe UI"/>
              </a:rPr>
              <a:t>Policy Rule</a:t>
            </a:r>
            <a:r>
              <a:rPr sz="1300" b="0">
                <a:solidFill>
                  <a:srgbClr val="F1F5F9"/>
                </a:solidFill>
                <a:latin typeface="Segoe UI"/>
              </a:rPr>
              <a:t>: Restarting a single unhealthy microservice instance.</a:t>
            </a:r>
          </a:p>
          <a:p>
            <a:pPr>
              <a:defRPr>
                <a:latin typeface="Segoe UI"/>
              </a:defRPr>
            </a:pPr>
            <a:r>
              <a:rPr sz="1300" b="0">
                <a:solidFill>
                  <a:srgbClr val="F1F5F9"/>
                </a:solidFill>
                <a:latin typeface="Segoe UI"/>
              </a:rPr>
              <a:t>• </a:t>
            </a:r>
            <a:r>
              <a:rPr sz="1300" b="1">
                <a:solidFill>
                  <a:srgbClr val="FFFFFF"/>
                </a:solidFill>
                <a:latin typeface="Segoe UI"/>
              </a:rPr>
              <a:t>Autonomous Execution</a:t>
            </a:r>
            <a:r>
              <a:rPr sz="1300" b="0">
                <a:solidFill>
                  <a:srgbClr val="F1F5F9"/>
                </a:solidFill>
                <a:latin typeface="Segoe UI"/>
              </a:rPr>
              <a:t>: Allowed (Simulated).</a:t>
            </a:r>
          </a:p>
          <a:p>
            <a:pPr>
              <a:defRPr>
                <a:latin typeface="Segoe UI"/>
              </a:defRPr>
            </a:pPr>
            <a:r>
              <a:rPr sz="1300" b="0">
                <a:solidFill>
                  <a:srgbClr val="F1F5F9"/>
                </a:solidFill>
                <a:latin typeface="Segoe UI"/>
              </a:rPr>
              <a:t>• </a:t>
            </a:r>
            <a:r>
              <a:rPr sz="1300" b="1">
                <a:solidFill>
                  <a:srgbClr val="FFFFFF"/>
                </a:solidFill>
                <a:latin typeface="Segoe UI"/>
              </a:rPr>
              <a:t>Operator Action</a:t>
            </a:r>
            <a:r>
              <a:rPr sz="1300" b="0">
                <a:solidFill>
                  <a:srgbClr val="F1F5F9"/>
                </a:solidFill>
                <a:latin typeface="Segoe UI"/>
              </a:rPr>
              <a:t>: None required (automatically advances to post-remediation verification).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79976" y="1463040"/>
            <a:ext cx="3429000" cy="2468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sz="1300" b="1">
                <a:solidFill>
                  <a:srgbClr val="FBBF24"/>
                </a:solidFill>
              </a:defRPr>
            </a:pPr>
            <a:r>
              <a:t>MEDIUM RISK POLICY</a:t>
            </a:r>
          </a:p>
          <a:p>
            <a:pPr>
              <a:defRPr>
                <a:latin typeface="Segoe UI"/>
              </a:defRPr>
            </a:pPr>
            <a:r>
              <a:rPr sz="1300" b="0">
                <a:solidFill>
                  <a:srgbClr val="F1F5F9"/>
                </a:solidFill>
                <a:latin typeface="Segoe UI"/>
              </a:rPr>
              <a:t>• </a:t>
            </a:r>
            <a:r>
              <a:rPr sz="1300" b="1">
                <a:solidFill>
                  <a:srgbClr val="FFFFFF"/>
                </a:solidFill>
                <a:latin typeface="Segoe UI"/>
              </a:rPr>
              <a:t>Policy Rule</a:t>
            </a:r>
            <a:r>
              <a:rPr sz="1300" b="0">
                <a:solidFill>
                  <a:srgbClr val="F1F5F9"/>
                </a:solidFill>
                <a:latin typeface="Segoe UI"/>
              </a:rPr>
              <a:t>: Scaling service replica counts (`SCALE_SERVICE`).</a:t>
            </a:r>
          </a:p>
          <a:p>
            <a:pPr>
              <a:defRPr>
                <a:latin typeface="Segoe UI"/>
              </a:defRPr>
            </a:pPr>
            <a:r>
              <a:rPr sz="1300" b="0">
                <a:solidFill>
                  <a:srgbClr val="F1F5F9"/>
                </a:solidFill>
                <a:latin typeface="Segoe UI"/>
              </a:rPr>
              <a:t>• </a:t>
            </a:r>
            <a:r>
              <a:rPr sz="1300" b="1">
                <a:solidFill>
                  <a:srgbClr val="FFFFFF"/>
                </a:solidFill>
                <a:latin typeface="Segoe UI"/>
              </a:rPr>
              <a:t>Autonomous Execution</a:t>
            </a:r>
            <a:r>
              <a:rPr sz="1300" b="0">
                <a:solidFill>
                  <a:srgbClr val="F1F5F9"/>
                </a:solidFill>
                <a:latin typeface="Segoe UI"/>
              </a:rPr>
              <a:t>: </a:t>
            </a:r>
            <a:r>
              <a:rPr sz="1300" b="1">
                <a:solidFill>
                  <a:srgbClr val="FFFFFF"/>
                </a:solidFill>
                <a:latin typeface="Segoe UI"/>
              </a:rPr>
              <a:t>Prohibited</a:t>
            </a:r>
            <a:r>
              <a:rPr sz="1300" b="0">
                <a:solidFill>
                  <a:srgbClr val="F1F5F9"/>
                </a:solidFill>
                <a:latin typeface="Segoe UI"/>
              </a:rPr>
              <a:t>.</a:t>
            </a:r>
          </a:p>
          <a:p>
            <a:pPr>
              <a:defRPr>
                <a:latin typeface="Segoe UI"/>
              </a:defRPr>
            </a:pPr>
            <a:r>
              <a:rPr sz="1300" b="0">
                <a:solidFill>
                  <a:srgbClr val="F1F5F9"/>
                </a:solidFill>
                <a:latin typeface="Segoe UI"/>
              </a:rPr>
              <a:t>• </a:t>
            </a:r>
            <a:r>
              <a:rPr sz="1300" b="1">
                <a:solidFill>
                  <a:srgbClr val="FFFFFF"/>
                </a:solidFill>
                <a:latin typeface="Segoe UI"/>
              </a:rPr>
              <a:t>Operator Action</a:t>
            </a:r>
            <a:r>
              <a:rPr sz="1300" b="0">
                <a:solidFill>
                  <a:srgbClr val="F1F5F9"/>
                </a:solidFill>
                <a:latin typeface="Segoe UI"/>
              </a:rPr>
              <a:t>: </a:t>
            </a:r>
            <a:r>
              <a:rPr sz="1300" b="1">
                <a:solidFill>
                  <a:srgbClr val="FFFFFF"/>
                </a:solidFill>
                <a:latin typeface="Segoe UI"/>
              </a:rPr>
              <a:t>Mandatory Operator Approval</a:t>
            </a:r>
            <a:r>
              <a:rPr sz="1300" b="0">
                <a:solidFill>
                  <a:srgbClr val="F1F5F9"/>
                </a:solidFill>
                <a:latin typeface="Segoe UI"/>
              </a:rPr>
              <a:t> required via dashboard before execution.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28431" y="1463040"/>
            <a:ext cx="3429000" cy="2468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sz="1300" b="1">
                <a:solidFill>
                  <a:srgbClr val="EF4444"/>
                </a:solidFill>
              </a:defRPr>
            </a:pPr>
            <a:r>
              <a:t>HIGH RISK POLICY</a:t>
            </a:r>
          </a:p>
          <a:p>
            <a:pPr>
              <a:defRPr>
                <a:latin typeface="Segoe UI"/>
              </a:defRPr>
            </a:pPr>
            <a:r>
              <a:rPr sz="1300" b="0">
                <a:solidFill>
                  <a:srgbClr val="F1F5F9"/>
                </a:solidFill>
                <a:latin typeface="Segoe UI"/>
              </a:rPr>
              <a:t>• </a:t>
            </a:r>
            <a:r>
              <a:rPr sz="1300" b="1">
                <a:solidFill>
                  <a:srgbClr val="FFFFFF"/>
                </a:solidFill>
                <a:latin typeface="Segoe UI"/>
              </a:rPr>
              <a:t>Policy Rule</a:t>
            </a:r>
            <a:r>
              <a:rPr sz="1300" b="0">
                <a:solidFill>
                  <a:srgbClr val="F1F5F9"/>
                </a:solidFill>
                <a:latin typeface="Segoe UI"/>
              </a:rPr>
              <a:t>: Multi-instance restarts or configuration rollbacks (`ROLLBACK_SERVICE`).</a:t>
            </a:r>
          </a:p>
          <a:p>
            <a:pPr>
              <a:defRPr>
                <a:latin typeface="Segoe UI"/>
              </a:defRPr>
            </a:pPr>
            <a:r>
              <a:rPr sz="1300" b="0">
                <a:solidFill>
                  <a:srgbClr val="F1F5F9"/>
                </a:solidFill>
                <a:latin typeface="Segoe UI"/>
              </a:rPr>
              <a:t>• </a:t>
            </a:r>
            <a:r>
              <a:rPr sz="1300" b="1">
                <a:solidFill>
                  <a:srgbClr val="FFFFFF"/>
                </a:solidFill>
                <a:latin typeface="Segoe UI"/>
              </a:rPr>
              <a:t>Autonomous Execution</a:t>
            </a:r>
            <a:r>
              <a:rPr sz="1300" b="0">
                <a:solidFill>
                  <a:srgbClr val="F1F5F9"/>
                </a:solidFill>
                <a:latin typeface="Segoe UI"/>
              </a:rPr>
              <a:t>: </a:t>
            </a:r>
            <a:r>
              <a:rPr sz="1300" b="1">
                <a:solidFill>
                  <a:srgbClr val="FFFFFF"/>
                </a:solidFill>
                <a:latin typeface="Segoe UI"/>
              </a:rPr>
              <a:t>Prohibited</a:t>
            </a:r>
            <a:r>
              <a:rPr sz="1300" b="0">
                <a:solidFill>
                  <a:srgbClr val="F1F5F9"/>
                </a:solidFill>
                <a:latin typeface="Segoe UI"/>
              </a:rPr>
              <a:t>.</a:t>
            </a:r>
          </a:p>
          <a:p>
            <a:pPr>
              <a:defRPr>
                <a:latin typeface="Segoe UI"/>
              </a:defRPr>
            </a:pPr>
            <a:r>
              <a:rPr sz="1300" b="0">
                <a:solidFill>
                  <a:srgbClr val="F1F5F9"/>
                </a:solidFill>
                <a:latin typeface="Segoe UI"/>
              </a:rPr>
              <a:t>• </a:t>
            </a:r>
            <a:r>
              <a:rPr sz="1300" b="1">
                <a:solidFill>
                  <a:srgbClr val="FFFFFF"/>
                </a:solidFill>
                <a:latin typeface="Segoe UI"/>
              </a:rPr>
              <a:t>Operator Action</a:t>
            </a:r>
            <a:r>
              <a:rPr sz="1300" b="0">
                <a:solidFill>
                  <a:srgbClr val="F1F5F9"/>
                </a:solidFill>
                <a:latin typeface="Segoe UI"/>
              </a:rPr>
              <a:t>: </a:t>
            </a:r>
            <a:r>
              <a:rPr sz="1300" b="1">
                <a:solidFill>
                  <a:srgbClr val="FFFFFF"/>
                </a:solidFill>
                <a:latin typeface="Segoe UI"/>
              </a:rPr>
              <a:t>Mandatory Operator Approval</a:t>
            </a:r>
            <a:r>
              <a:rPr sz="1300" b="0">
                <a:solidFill>
                  <a:srgbClr val="F1F5F9"/>
                </a:solidFill>
                <a:latin typeface="Segoe UI"/>
              </a:rPr>
              <a:t> required.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160520"/>
            <a:ext cx="10728655" cy="2240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Bef>
                <a:spcPts val="0"/>
              </a:spcBef>
              <a:spcAft>
                <a:spcPts val="300"/>
              </a:spcAft>
              <a:defRPr>
                <a:latin typeface="Segoe UI"/>
              </a:defRPr>
            </a:pPr>
            <a:r>
              <a:rPr sz="1300" b="0">
                <a:solidFill>
                  <a:srgbClr val="F1F5F9"/>
                </a:solidFill>
                <a:latin typeface="Segoe UI"/>
              </a:rPr>
              <a:t>• </a:t>
            </a:r>
            <a:r>
              <a:rPr sz="1300" b="1">
                <a:solidFill>
                  <a:srgbClr val="FFFFFF"/>
                </a:solidFill>
                <a:latin typeface="Segoe UI"/>
              </a:rPr>
              <a:t>State Machine Enforcement</a:t>
            </a:r>
            <a:r>
              <a:rPr sz="1300" b="0">
                <a:solidFill>
                  <a:srgbClr val="F1F5F9"/>
                </a:solidFill>
                <a:latin typeface="Segoe UI"/>
              </a:rPr>
              <a:t>: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>
                <a:latin typeface="Segoe UI"/>
              </a:defRPr>
            </a:pPr>
            <a:r>
              <a:rPr sz="1150" b="0">
                <a:solidFill>
                  <a:srgbClr val="F1F5F9"/>
                </a:solidFill>
                <a:latin typeface="Segoe UI"/>
              </a:rPr>
              <a:t>– Any proposal classified as `MEDIUM` or `HIGH` automatically transitions to `PENDING_APPROVAL` and halts execution.</a:t>
            </a:r>
          </a:p>
          <a:p>
            <a:pPr>
              <a:spcBef>
                <a:spcPts val="500"/>
              </a:spcBef>
              <a:spcAft>
                <a:spcPts val="300"/>
              </a:spcAft>
              <a:defRPr>
                <a:latin typeface="Segoe UI"/>
              </a:defRPr>
            </a:pPr>
            <a:r>
              <a:rPr sz="1300" b="0">
                <a:solidFill>
                  <a:srgbClr val="F1F5F9"/>
                </a:solidFill>
                <a:latin typeface="Segoe UI"/>
              </a:rPr>
              <a:t>• </a:t>
            </a:r>
            <a:r>
              <a:rPr sz="1300" b="1">
                <a:solidFill>
                  <a:srgbClr val="FFFFFF"/>
                </a:solidFill>
                <a:latin typeface="Segoe UI"/>
              </a:rPr>
              <a:t>Operator Approval API (`POST /incidents/{id}/approve`)</a:t>
            </a:r>
            <a:r>
              <a:rPr sz="1300" b="0">
                <a:solidFill>
                  <a:srgbClr val="F1F5F9"/>
                </a:solidFill>
                <a:latin typeface="Segoe UI"/>
              </a:rPr>
              <a:t>: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>
                <a:latin typeface="Segoe UI"/>
              </a:defRPr>
            </a:pPr>
            <a:r>
              <a:rPr sz="1150" b="0">
                <a:solidFill>
                  <a:srgbClr val="F1F5F9"/>
                </a:solidFill>
                <a:latin typeface="Segoe UI"/>
              </a:rPr>
              <a:t>– Records approval audit trail, transitions status to `APPROVED`, and triggers deterministic simulated execution.</a:t>
            </a:r>
          </a:p>
          <a:p>
            <a:pPr>
              <a:spcBef>
                <a:spcPts val="500"/>
              </a:spcBef>
              <a:spcAft>
                <a:spcPts val="300"/>
              </a:spcAft>
              <a:defRPr>
                <a:latin typeface="Segoe UI"/>
              </a:defRPr>
            </a:pPr>
            <a:r>
              <a:rPr sz="1300" b="0">
                <a:solidFill>
                  <a:srgbClr val="F1F5F9"/>
                </a:solidFill>
                <a:latin typeface="Segoe UI"/>
              </a:rPr>
              <a:t>• </a:t>
            </a:r>
            <a:r>
              <a:rPr sz="1300" b="1">
                <a:solidFill>
                  <a:srgbClr val="FFFFFF"/>
                </a:solidFill>
                <a:latin typeface="Segoe UI"/>
              </a:rPr>
              <a:t>Operator Rejection API (`POST /incidents/{id}/reject`)</a:t>
            </a:r>
            <a:r>
              <a:rPr sz="1300" b="0">
                <a:solidFill>
                  <a:srgbClr val="F1F5F9"/>
                </a:solidFill>
                <a:latin typeface="Segoe UI"/>
              </a:rPr>
              <a:t>: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>
                <a:latin typeface="Segoe UI"/>
              </a:defRPr>
            </a:pPr>
            <a:r>
              <a:rPr sz="1150" b="0">
                <a:solidFill>
                  <a:srgbClr val="F1F5F9"/>
                </a:solidFill>
                <a:latin typeface="Segoe UI"/>
              </a:rPr>
              <a:t>– Transitions status to `REJECTED`, cancels remediation execution, and returns incident to `INVESTIGATING`.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2400" b="1">
                <a:solidFill>
                  <a:srgbClr val="FFFFFF"/>
                </a:solidFill>
                <a:latin typeface="Segoe UI"/>
              </a:defRPr>
            </a:pPr>
            <a:r>
              <a:t>Observable Telemetry &amp; Operator Dashboard</a:t>
            </a:r>
          </a:p>
          <a:p>
            <a:pPr>
              <a:defRPr sz="1300" b="0">
                <a:solidFill>
                  <a:srgbClr val="38BDF8"/>
                </a:solidFill>
                <a:latin typeface="Segoe UI"/>
              </a:defRPr>
            </a:pPr>
            <a:r>
              <a:t>Real-Time Telemetry Visibility Across Prometheus, Loki, Jaeger &amp; React 19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9377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Bef>
                <a:spcPts val="0"/>
              </a:spcBef>
              <a:spcAft>
                <a:spcPts val="300"/>
              </a:spcAft>
              <a:defRPr>
                <a:latin typeface="Segoe UI"/>
              </a:defRPr>
            </a:pPr>
            <a:r>
              <a:rPr sz="1250" b="0">
                <a:solidFill>
                  <a:srgbClr val="F1F5F9"/>
                </a:solidFill>
                <a:latin typeface="Segoe UI"/>
              </a:rPr>
              <a:t>• </a:t>
            </a:r>
            <a:r>
              <a:rPr sz="1250" b="1">
                <a:solidFill>
                  <a:srgbClr val="FFFFFF"/>
                </a:solidFill>
                <a:latin typeface="Segoe UI"/>
              </a:rPr>
              <a:t>Grafana Observability Dashboard</a:t>
            </a:r>
            <a:r>
              <a:rPr sz="1250" b="0">
                <a:solidFill>
                  <a:srgbClr val="F1F5F9"/>
                </a:solidFill>
                <a:latin typeface="Segoe UI"/>
              </a:rPr>
              <a:t>: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>
                <a:latin typeface="Segoe UI"/>
              </a:defRPr>
            </a:pPr>
            <a:r>
              <a:rPr sz="1100" b="0">
                <a:solidFill>
                  <a:srgbClr val="F1F5F9"/>
                </a:solidFill>
                <a:latin typeface="Segoe UI"/>
              </a:rPr>
              <a:t>– </a:t>
            </a:r>
            <a:r>
              <a:rPr sz="1100" b="1">
                <a:solidFill>
                  <a:srgbClr val="FFFFFF"/>
                </a:solidFill>
                <a:latin typeface="Segoe UI"/>
              </a:rPr>
              <a:t>Service Health Status</a:t>
            </a:r>
            <a:r>
              <a:rPr sz="1100" b="0">
                <a:solidFill>
                  <a:srgbClr val="F1F5F9"/>
                </a:solidFill>
                <a:latin typeface="Segoe UI"/>
              </a:rPr>
              <a:t>: Real-time status panel tracking health across all 5 microservices (`order`, `payment`, `notification`, `user`, `api-gateway`).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>
                <a:latin typeface="Segoe UI"/>
              </a:defRPr>
            </a:pPr>
            <a:r>
              <a:rPr sz="1100" b="0">
                <a:solidFill>
                  <a:srgbClr val="F1F5F9"/>
                </a:solidFill>
                <a:latin typeface="Segoe UI"/>
              </a:rPr>
              <a:t>– </a:t>
            </a:r>
            <a:r>
              <a:rPr sz="1100" b="1">
                <a:solidFill>
                  <a:srgbClr val="FFFFFF"/>
                </a:solidFill>
                <a:latin typeface="Segoe UI"/>
              </a:rPr>
              <a:t>Request Rate</a:t>
            </a:r>
            <a:r>
              <a:rPr sz="1100" b="0">
                <a:solidFill>
                  <a:srgbClr val="F1F5F9"/>
                </a:solidFill>
                <a:latin typeface="Segoe UI"/>
              </a:rPr>
              <a:t>: Per-second throughput across services.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>
                <a:latin typeface="Segoe UI"/>
              </a:defRPr>
            </a:pPr>
            <a:r>
              <a:rPr sz="1100" b="0">
                <a:solidFill>
                  <a:srgbClr val="F1F5F9"/>
                </a:solidFill>
                <a:latin typeface="Segoe UI"/>
              </a:rPr>
              <a:t>– </a:t>
            </a:r>
            <a:r>
              <a:rPr sz="1100" b="1">
                <a:solidFill>
                  <a:srgbClr val="FFFFFF"/>
                </a:solidFill>
                <a:latin typeface="Segoe UI"/>
              </a:rPr>
              <a:t>Error Rate (5xx)</a:t>
            </a:r>
            <a:r>
              <a:rPr sz="1100" b="0">
                <a:solidFill>
                  <a:srgbClr val="F1F5F9"/>
                </a:solidFill>
                <a:latin typeface="Segoe UI"/>
              </a:rPr>
              <a:t>: Instant visibility into error spikes during active faults; returns deterministically to 0 upon recovery.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>
                <a:latin typeface="Segoe UI"/>
              </a:defRPr>
            </a:pPr>
            <a:r>
              <a:rPr sz="1100" b="0">
                <a:solidFill>
                  <a:srgbClr val="F1F5F9"/>
                </a:solidFill>
                <a:latin typeface="Segoe UI"/>
              </a:rPr>
              <a:t>– </a:t>
            </a:r>
            <a:r>
              <a:rPr sz="1100" b="1">
                <a:solidFill>
                  <a:srgbClr val="FFFFFF"/>
                </a:solidFill>
                <a:latin typeface="Segoe UI"/>
              </a:rPr>
              <a:t>P95 Latency</a:t>
            </a:r>
            <a:r>
              <a:rPr sz="1100" b="0">
                <a:solidFill>
                  <a:srgbClr val="F1F5F9"/>
                </a:solidFill>
                <a:latin typeface="Segoe UI"/>
              </a:rPr>
              <a:t>: Histogram quantiles tracking delays.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>
                <a:latin typeface="Segoe UI"/>
              </a:defRPr>
            </a:pPr>
            <a:r>
              <a:rPr sz="1100" b="0">
                <a:solidFill>
                  <a:srgbClr val="F1F5F9"/>
                </a:solidFill>
                <a:latin typeface="Segoe UI"/>
              </a:rPr>
              <a:t>– </a:t>
            </a:r>
            <a:r>
              <a:rPr sz="1100" b="1">
                <a:solidFill>
                  <a:srgbClr val="FFFFFF"/>
                </a:solidFill>
                <a:latin typeface="Segoe UI"/>
              </a:rPr>
              <a:t>Live Service Logs</a:t>
            </a:r>
            <a:r>
              <a:rPr sz="1100" b="0">
                <a:solidFill>
                  <a:srgbClr val="F1F5F9"/>
                </a:solidFill>
                <a:latin typeface="Segoe UI"/>
              </a:rPr>
              <a:t>: Real-time Loki log streaming filtered by `service_name`.</a:t>
            </a:r>
          </a:p>
          <a:p>
            <a:pPr>
              <a:spcBef>
                <a:spcPts val="500"/>
              </a:spcBef>
              <a:spcAft>
                <a:spcPts val="300"/>
              </a:spcAft>
              <a:defRPr>
                <a:latin typeface="Segoe UI"/>
              </a:defRPr>
            </a:pPr>
            <a:r>
              <a:rPr sz="1250" b="0">
                <a:solidFill>
                  <a:srgbClr val="F1F5F9"/>
                </a:solidFill>
                <a:latin typeface="Segoe UI"/>
              </a:rPr>
              <a:t>• </a:t>
            </a:r>
            <a:r>
              <a:rPr sz="1250" b="1">
                <a:solidFill>
                  <a:srgbClr val="FFFFFF"/>
                </a:solidFill>
                <a:latin typeface="Segoe UI"/>
              </a:rPr>
              <a:t>Jaeger Distributed Tracing</a:t>
            </a:r>
            <a:r>
              <a:rPr sz="1250" b="0">
                <a:solidFill>
                  <a:srgbClr val="F1F5F9"/>
                </a:solidFill>
                <a:latin typeface="Segoe UI"/>
              </a:rPr>
              <a:t>: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>
                <a:latin typeface="Segoe UI"/>
              </a:defRPr>
            </a:pPr>
            <a:r>
              <a:rPr sz="1100" b="0">
                <a:solidFill>
                  <a:srgbClr val="F1F5F9"/>
                </a:solidFill>
                <a:latin typeface="Segoe UI"/>
              </a:rPr>
              <a:t>– End-to-end trace waterfalls capturing cross-service HTTP calls and pinpointing error spans.</a:t>
            </a:r>
          </a:p>
          <a:p>
            <a:pPr>
              <a:spcBef>
                <a:spcPts val="500"/>
              </a:spcBef>
              <a:spcAft>
                <a:spcPts val="300"/>
              </a:spcAft>
              <a:defRPr>
                <a:latin typeface="Segoe UI"/>
              </a:defRPr>
            </a:pPr>
            <a:r>
              <a:rPr sz="1250" b="0">
                <a:solidFill>
                  <a:srgbClr val="F1F5F9"/>
                </a:solidFill>
                <a:latin typeface="Segoe UI"/>
              </a:rPr>
              <a:t>• </a:t>
            </a:r>
            <a:r>
              <a:rPr sz="1250" b="1">
                <a:solidFill>
                  <a:srgbClr val="FFFFFF"/>
                </a:solidFill>
                <a:latin typeface="Segoe UI"/>
              </a:rPr>
              <a:t>React 19 SRE Incident Dashboard</a:t>
            </a:r>
            <a:r>
              <a:rPr sz="1250" b="0">
                <a:solidFill>
                  <a:srgbClr val="F1F5F9"/>
                </a:solidFill>
                <a:latin typeface="Segoe UI"/>
              </a:rPr>
              <a:t>: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>
                <a:latin typeface="Segoe UI"/>
              </a:defRPr>
            </a:pPr>
            <a:r>
              <a:rPr sz="1100" b="0">
                <a:solidFill>
                  <a:srgbClr val="F1F5F9"/>
                </a:solidFill>
                <a:latin typeface="Segoe UI"/>
              </a:rPr>
              <a:t>– Interactive incident timeline, evidence inventory, RCA summary, human approval card, and postmortem view.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53912" y="1463040"/>
            <a:ext cx="5303520" cy="23317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grafana-error-rate-spik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1153" y="1536192"/>
            <a:ext cx="2809036" cy="186537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45352" y="3438144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50" b="1">
                <a:solidFill>
                  <a:srgbClr val="38BDF8"/>
                </a:solidFill>
                <a:latin typeface="Segoe UI"/>
              </a:defRPr>
            </a:pPr>
            <a:r>
              <a:t>Grafana: Error Rate (5xx) Spike During Active Fault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53912" y="4069080"/>
            <a:ext cx="5303520" cy="23317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jaeger-error-tra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1153" y="4142232"/>
            <a:ext cx="2809036" cy="18653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45352" y="6044184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50" b="1">
                <a:solidFill>
                  <a:srgbClr val="38BDF8"/>
                </a:solidFill>
                <a:latin typeface="Segoe UI"/>
              </a:defRPr>
            </a:pPr>
            <a:r>
              <a:t>Jaeger: Distributed Trace Waterfall Pinpointing Error Span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2400" b="1">
                <a:solidFill>
                  <a:srgbClr val="FFFFFF"/>
                </a:solidFill>
                <a:latin typeface="Segoe UI"/>
              </a:defRPr>
            </a:pPr>
            <a:r>
              <a:t>Live Demonstration Walkthrough</a:t>
            </a:r>
          </a:p>
          <a:p>
            <a:pPr>
              <a:defRPr sz="1300" b="0">
                <a:solidFill>
                  <a:srgbClr val="38BDF8"/>
                </a:solidFill>
                <a:latin typeface="Segoe UI"/>
              </a:defRPr>
            </a:pPr>
            <a:r>
              <a:t>Validated End-to-End Scenario: http_500_spike on payment-service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12080" cy="49377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Bef>
                <a:spcPts val="0"/>
              </a:spcBef>
              <a:spcAft>
                <a:spcPts val="300"/>
              </a:spcAft>
              <a:defRPr>
                <a:latin typeface="Segoe UI"/>
              </a:defRPr>
            </a:pPr>
            <a:r>
              <a:rPr sz="1250" b="0">
                <a:solidFill>
                  <a:srgbClr val="F1F5F9"/>
                </a:solidFill>
                <a:latin typeface="Segoe UI"/>
              </a:rPr>
              <a:t>• </a:t>
            </a:r>
            <a:r>
              <a:rPr sz="1250" b="1">
                <a:solidFill>
                  <a:srgbClr val="FFFFFF"/>
                </a:solidFill>
                <a:latin typeface="Segoe UI"/>
              </a:rPr>
              <a:t>Incident &amp; Fault Identifiers</a:t>
            </a:r>
            <a:r>
              <a:rPr sz="1250" b="0">
                <a:solidFill>
                  <a:srgbClr val="F1F5F9"/>
                </a:solidFill>
                <a:latin typeface="Segoe UI"/>
              </a:rPr>
              <a:t>: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>
                <a:latin typeface="Segoe UI"/>
              </a:defRPr>
            </a:pPr>
            <a:r>
              <a:rPr sz="1100" b="0">
                <a:solidFill>
                  <a:srgbClr val="F1F5F9"/>
                </a:solidFill>
                <a:latin typeface="Segoe UI"/>
              </a:rPr>
              <a:t>– Incident ID: `INC-CD90E2` | Fault Injection ID: `FAULT-1D8A4DA5`.</a:t>
            </a:r>
          </a:p>
          <a:p>
            <a:pPr>
              <a:spcBef>
                <a:spcPts val="500"/>
              </a:spcBef>
              <a:spcAft>
                <a:spcPts val="300"/>
              </a:spcAft>
              <a:defRPr>
                <a:latin typeface="Segoe UI"/>
              </a:defRPr>
            </a:pPr>
            <a:r>
              <a:rPr sz="1250" b="0">
                <a:solidFill>
                  <a:srgbClr val="F1F5F9"/>
                </a:solidFill>
                <a:latin typeface="Segoe UI"/>
              </a:rPr>
              <a:t>• </a:t>
            </a:r>
            <a:r>
              <a:rPr sz="1250" b="1">
                <a:solidFill>
                  <a:srgbClr val="FFFFFF"/>
                </a:solidFill>
                <a:latin typeface="Segoe UI"/>
              </a:rPr>
              <a:t>Quantitative HTTP Traffic Verification</a:t>
            </a:r>
            <a:r>
              <a:rPr sz="1250" b="0">
                <a:solidFill>
                  <a:srgbClr val="F1F5F9"/>
                </a:solidFill>
                <a:latin typeface="Segoe UI"/>
              </a:rPr>
              <a:t>: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>
                <a:latin typeface="Segoe UI"/>
              </a:defRPr>
            </a:pPr>
            <a:r>
              <a:rPr sz="1100" b="0">
                <a:solidFill>
                  <a:srgbClr val="F1F5F9"/>
                </a:solidFill>
                <a:latin typeface="Segoe UI"/>
              </a:rPr>
              <a:t>– </a:t>
            </a:r>
            <a:r>
              <a:rPr sz="1100" b="1">
                <a:solidFill>
                  <a:srgbClr val="FFFFFF"/>
                </a:solidFill>
                <a:latin typeface="Segoe UI"/>
              </a:rPr>
              <a:t>Baseline</a:t>
            </a:r>
            <a:r>
              <a:rPr sz="1100" b="0">
                <a:solidFill>
                  <a:srgbClr val="F1F5F9"/>
                </a:solidFill>
                <a:latin typeface="Segoe UI"/>
              </a:rPr>
              <a:t>: 10/10 OK (100% success, avg latency: 1.116s).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>
                <a:latin typeface="Segoe UI"/>
              </a:defRPr>
            </a:pPr>
            <a:r>
              <a:rPr sz="1100" b="0">
                <a:solidFill>
                  <a:srgbClr val="F1F5F9"/>
                </a:solidFill>
                <a:latin typeface="Segoe UI"/>
              </a:rPr>
              <a:t>– </a:t>
            </a:r>
            <a:r>
              <a:rPr sz="1100" b="1">
                <a:solidFill>
                  <a:srgbClr val="FFFFFF"/>
                </a:solidFill>
                <a:latin typeface="Segoe UI"/>
              </a:rPr>
              <a:t>Fault Active</a:t>
            </a:r>
            <a:r>
              <a:rPr sz="1100" b="0">
                <a:solidFill>
                  <a:srgbClr val="F1F5F9"/>
                </a:solidFill>
                <a:latin typeface="Segoe UI"/>
              </a:rPr>
              <a:t>: 0/10 OK, 10/10 500s (100% failure, avg latency: 1.008s).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>
                <a:latin typeface="Segoe UI"/>
              </a:defRPr>
            </a:pPr>
            <a:r>
              <a:rPr sz="1100" b="0">
                <a:solidFill>
                  <a:srgbClr val="F1F5F9"/>
                </a:solidFill>
                <a:latin typeface="Segoe UI"/>
              </a:rPr>
              <a:t>– </a:t>
            </a:r>
            <a:r>
              <a:rPr sz="1100" b="1">
                <a:solidFill>
                  <a:srgbClr val="FFFFFF"/>
                </a:solidFill>
                <a:latin typeface="Segoe UI"/>
              </a:rPr>
              <a:t>Fault Cleanup</a:t>
            </a:r>
            <a:r>
              <a:rPr sz="1100" b="0">
                <a:solidFill>
                  <a:srgbClr val="F1F5F9"/>
                </a:solidFill>
                <a:latin typeface="Segoe UI"/>
              </a:rPr>
              <a:t>: 10/10 OK (100% recovered, avg latency: 1.051s).</a:t>
            </a:r>
          </a:p>
          <a:p>
            <a:pPr>
              <a:spcBef>
                <a:spcPts val="500"/>
              </a:spcBef>
              <a:spcAft>
                <a:spcPts val="300"/>
              </a:spcAft>
              <a:defRPr>
                <a:latin typeface="Segoe UI"/>
              </a:defRPr>
            </a:pPr>
            <a:r>
              <a:rPr sz="1250" b="0">
                <a:solidFill>
                  <a:srgbClr val="F1F5F9"/>
                </a:solidFill>
                <a:latin typeface="Segoe UI"/>
              </a:rPr>
              <a:t>• </a:t>
            </a:r>
            <a:r>
              <a:rPr sz="1250" b="1">
                <a:solidFill>
                  <a:srgbClr val="FFFFFF"/>
                </a:solidFill>
                <a:latin typeface="Segoe UI"/>
              </a:rPr>
              <a:t>Harvested Telemetry Evidence</a:t>
            </a:r>
            <a:r>
              <a:rPr sz="1250" b="0">
                <a:solidFill>
                  <a:srgbClr val="F1F5F9"/>
                </a:solidFill>
                <a:latin typeface="Segoe UI"/>
              </a:rPr>
              <a:t>: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>
                <a:latin typeface="Segoe UI"/>
              </a:defRPr>
            </a:pPr>
            <a:r>
              <a:rPr sz="1100" b="0">
                <a:solidFill>
                  <a:srgbClr val="F1F5F9"/>
                </a:solidFill>
                <a:latin typeface="Segoe UI"/>
              </a:rPr>
              <a:t>– `EV-TRACE-3F77AC`: 10 Jaeger traces analyzed (7 error spans identified).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>
                <a:latin typeface="Segoe UI"/>
              </a:defRPr>
            </a:pPr>
            <a:r>
              <a:rPr sz="1100" b="0">
                <a:solidFill>
                  <a:srgbClr val="F1F5F9"/>
                </a:solidFill>
                <a:latin typeface="Segoe UI"/>
              </a:rPr>
              <a:t>– `EV-CHANGE-9964BD`: Active synthetic fault metadata detected.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>
                <a:latin typeface="Segoe UI"/>
              </a:defRPr>
            </a:pPr>
            <a:r>
              <a:rPr sz="1100" b="0">
                <a:solidFill>
                  <a:srgbClr val="F1F5F9"/>
                </a:solidFill>
                <a:latin typeface="Segoe UI"/>
              </a:rPr>
              <a:t>– `EV-INFRA-5B1A7A`: Prometheus node/pod infrastructure health verified.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>
                <a:latin typeface="Segoe UI"/>
              </a:defRPr>
            </a:pPr>
            <a:r>
              <a:rPr sz="1100" b="0">
                <a:solidFill>
                  <a:srgbClr val="F1F5F9"/>
                </a:solidFill>
                <a:latin typeface="Segoe UI"/>
              </a:rPr>
              <a:t>– `EVID-KNOW-6750`: 3 relevant historical runbooks retrieved from pgvector.</a:t>
            </a:r>
          </a:p>
          <a:p>
            <a:pPr>
              <a:spcBef>
                <a:spcPts val="500"/>
              </a:spcBef>
              <a:spcAft>
                <a:spcPts val="300"/>
              </a:spcAft>
              <a:defRPr>
                <a:latin typeface="Segoe UI"/>
              </a:defRPr>
            </a:pPr>
            <a:r>
              <a:rPr sz="1250" b="0">
                <a:solidFill>
                  <a:srgbClr val="F1F5F9"/>
                </a:solidFill>
                <a:latin typeface="Segoe UI"/>
              </a:rPr>
              <a:t>• </a:t>
            </a:r>
            <a:r>
              <a:rPr sz="1250" b="1">
                <a:solidFill>
                  <a:srgbClr val="FFFFFF"/>
                </a:solidFill>
                <a:latin typeface="Segoe UI"/>
              </a:rPr>
              <a:t>Remediation Proposal &amp; Risk Gate</a:t>
            </a:r>
            <a:r>
              <a:rPr sz="1250" b="0">
                <a:solidFill>
                  <a:srgbClr val="F1F5F9"/>
                </a:solidFill>
                <a:latin typeface="Segoe UI"/>
              </a:rPr>
              <a:t>: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>
                <a:latin typeface="Segoe UI"/>
              </a:defRPr>
            </a:pPr>
            <a:r>
              <a:rPr sz="1100" b="0">
                <a:solidFill>
                  <a:srgbClr val="F1F5F9"/>
                </a:solidFill>
                <a:latin typeface="Segoe UI"/>
              </a:rPr>
              <a:t>– Proposal: `SCALE_SERVICE` for `payment-service` (`replicas: 2`).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>
                <a:latin typeface="Segoe UI"/>
              </a:defRPr>
            </a:pPr>
            <a:r>
              <a:rPr sz="1100" b="0">
                <a:solidFill>
                  <a:srgbClr val="F1F5F9"/>
                </a:solidFill>
                <a:latin typeface="Segoe UI"/>
              </a:rPr>
              <a:t>– Labeled: `[DEMO FIXTURE - MOCK_LLM]`.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>
                <a:latin typeface="Segoe UI"/>
              </a:defRPr>
            </a:pPr>
            <a:r>
              <a:rPr sz="1100" b="0">
                <a:solidFill>
                  <a:srgbClr val="F1F5F9"/>
                </a:solidFill>
                <a:latin typeface="Segoe UI"/>
              </a:rPr>
              <a:t>– Safety Gate: Classified as `MEDIUM` risk -&gt; Halts at `PENDING_APPROVAL`.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45352" y="1463040"/>
            <a:ext cx="5212080" cy="49377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ncident-remediation-propos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8504" y="2089904"/>
            <a:ext cx="5065776" cy="336399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36792" y="6044184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50" b="1">
                <a:solidFill>
                  <a:srgbClr val="38BDF8"/>
                </a:solidFill>
                <a:latin typeface="Segoe UI"/>
              </a:defRPr>
            </a:pPr>
            <a:r>
              <a:t>React 19 SRE Dashboard: Remediation Proposal &amp; Risk Assessment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2400" b="1">
                <a:solidFill>
                  <a:srgbClr val="FFFFFF"/>
                </a:solidFill>
                <a:latin typeface="Segoe UI"/>
              </a:defRPr>
            </a:pPr>
            <a:r>
              <a:t>Execution, Verification &amp; Postmortem</a:t>
            </a:r>
          </a:p>
          <a:p>
            <a:pPr>
              <a:defRPr sz="1300" b="0">
                <a:solidFill>
                  <a:srgbClr val="38BDF8"/>
                </a:solidFill>
                <a:latin typeface="Segoe UI"/>
              </a:defRPr>
            </a:pPr>
            <a:r>
              <a:t>Deterministic Lifecycle Completion &amp; Evidence Verification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9377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Bef>
                <a:spcPts val="0"/>
              </a:spcBef>
              <a:spcAft>
                <a:spcPts val="300"/>
              </a:spcAft>
              <a:defRPr>
                <a:latin typeface="Segoe UI"/>
              </a:defRPr>
            </a:pPr>
            <a:r>
              <a:rPr sz="1250" b="0">
                <a:solidFill>
                  <a:srgbClr val="F1F5F9"/>
                </a:solidFill>
                <a:latin typeface="Segoe UI"/>
              </a:rPr>
              <a:t>• </a:t>
            </a:r>
            <a:r>
              <a:rPr sz="1250" b="1">
                <a:solidFill>
                  <a:srgbClr val="FFFFFF"/>
                </a:solidFill>
                <a:latin typeface="Segoe UI"/>
              </a:rPr>
              <a:t>Human Operator Approval Gate</a:t>
            </a:r>
            <a:r>
              <a:rPr sz="1250" b="0">
                <a:solidFill>
                  <a:srgbClr val="F1F5F9"/>
                </a:solidFill>
                <a:latin typeface="Segoe UI"/>
              </a:rPr>
              <a:t>: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>
                <a:latin typeface="Segoe UI"/>
              </a:defRPr>
            </a:pPr>
            <a:r>
              <a:rPr sz="1100" b="0">
                <a:solidFill>
                  <a:srgbClr val="F1F5F9"/>
                </a:solidFill>
                <a:latin typeface="Segoe UI"/>
              </a:rPr>
              <a:t>– Operator submitted approval via dashboard (`POST /incidents/{id}/approve`).</a:t>
            </a:r>
          </a:p>
          <a:p>
            <a:pPr>
              <a:spcBef>
                <a:spcPts val="500"/>
              </a:spcBef>
              <a:spcAft>
                <a:spcPts val="300"/>
              </a:spcAft>
              <a:defRPr>
                <a:latin typeface="Segoe UI"/>
              </a:defRPr>
            </a:pPr>
            <a:r>
              <a:rPr sz="1250" b="0">
                <a:solidFill>
                  <a:srgbClr val="F1F5F9"/>
                </a:solidFill>
                <a:latin typeface="Segoe UI"/>
              </a:rPr>
              <a:t>• </a:t>
            </a:r>
            <a:r>
              <a:rPr sz="1250" b="1">
                <a:solidFill>
                  <a:srgbClr val="FFFFFF"/>
                </a:solidFill>
                <a:latin typeface="Segoe UI"/>
              </a:rPr>
              <a:t>Simulated Execution Safety Boundary</a:t>
            </a:r>
            <a:r>
              <a:rPr sz="1250" b="0">
                <a:solidFill>
                  <a:srgbClr val="F1F5F9"/>
                </a:solidFill>
                <a:latin typeface="Segoe UI"/>
              </a:rPr>
              <a:t>: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>
                <a:latin typeface="Segoe UI"/>
              </a:defRPr>
            </a:pPr>
            <a:r>
              <a:rPr sz="1100" b="0">
                <a:solidFill>
                  <a:srgbClr val="F1F5F9"/>
                </a:solidFill>
                <a:latin typeface="Segoe UI"/>
              </a:rPr>
              <a:t>– Execution status: `SUCCESS` against in-memory `SIMULATED_INFRA_STATE`.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>
                <a:latin typeface="Segoe UI"/>
              </a:defRPr>
            </a:pPr>
            <a:r>
              <a:rPr sz="1100" b="0">
                <a:solidFill>
                  <a:srgbClr val="F1F5F9"/>
                </a:solidFill>
                <a:latin typeface="Segoe UI"/>
              </a:rPr>
              <a:t>– Zero Kubernetes cluster mutation: `kubectl get deployment payment-service` remained strictly at 1 replica.</a:t>
            </a:r>
          </a:p>
          <a:p>
            <a:pPr>
              <a:spcBef>
                <a:spcPts val="500"/>
              </a:spcBef>
              <a:spcAft>
                <a:spcPts val="300"/>
              </a:spcAft>
              <a:defRPr>
                <a:latin typeface="Segoe UI"/>
              </a:defRPr>
            </a:pPr>
            <a:r>
              <a:rPr sz="1250" b="0">
                <a:solidFill>
                  <a:srgbClr val="F1F5F9"/>
                </a:solidFill>
                <a:latin typeface="Segoe UI"/>
              </a:rPr>
              <a:t>• </a:t>
            </a:r>
            <a:r>
              <a:rPr sz="1250" b="1">
                <a:solidFill>
                  <a:srgbClr val="FFFFFF"/>
                </a:solidFill>
                <a:latin typeface="Segoe UI"/>
              </a:rPr>
              <a:t>Deterministic Post-Remediation Verification</a:t>
            </a:r>
            <a:r>
              <a:rPr sz="1250" b="0">
                <a:solidFill>
                  <a:srgbClr val="F1F5F9"/>
                </a:solidFill>
                <a:latin typeface="Segoe UI"/>
              </a:rPr>
              <a:t>: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>
                <a:latin typeface="Segoe UI"/>
              </a:defRPr>
            </a:pPr>
            <a:r>
              <a:rPr sz="1100" b="0">
                <a:solidFill>
                  <a:srgbClr val="F1F5F9"/>
                </a:solidFill>
                <a:latin typeface="Segoe UI"/>
              </a:rPr>
              <a:t>– Check 1 (`replica_count`): 2 replicas verified (Passed).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>
                <a:latin typeface="Segoe UI"/>
              </a:defRPr>
            </a:pPr>
            <a:r>
              <a:rPr sz="1100" b="0">
                <a:solidFill>
                  <a:srgbClr val="F1F5F9"/>
                </a:solidFill>
                <a:latin typeface="Segoe UI"/>
              </a:rPr>
              <a:t>– Check 2 (`service_health`): Healthy status verified (Passed).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>
                <a:latin typeface="Segoe UI"/>
              </a:defRPr>
            </a:pPr>
            <a:r>
              <a:rPr sz="1100" b="0">
                <a:solidFill>
                  <a:srgbClr val="F1F5F9"/>
                </a:solidFill>
                <a:latin typeface="Segoe UI"/>
              </a:rPr>
              <a:t>– Outcome: Marked `VERIFIED_SUCCESS` -&gt; Incident resolved.</a:t>
            </a:r>
          </a:p>
          <a:p>
            <a:pPr>
              <a:spcBef>
                <a:spcPts val="500"/>
              </a:spcBef>
              <a:spcAft>
                <a:spcPts val="300"/>
              </a:spcAft>
              <a:defRPr>
                <a:latin typeface="Segoe UI"/>
              </a:defRPr>
            </a:pPr>
            <a:r>
              <a:rPr sz="1250" b="0">
                <a:solidFill>
                  <a:srgbClr val="F1F5F9"/>
                </a:solidFill>
                <a:latin typeface="Segoe UI"/>
              </a:rPr>
              <a:t>• </a:t>
            </a:r>
            <a:r>
              <a:rPr sz="1250" b="1">
                <a:solidFill>
                  <a:srgbClr val="FFFFFF"/>
                </a:solidFill>
                <a:latin typeface="Segoe UI"/>
              </a:rPr>
              <a:t>Incident Replay &amp; Evaluation</a:t>
            </a:r>
            <a:r>
              <a:rPr sz="1250" b="0">
                <a:solidFill>
                  <a:srgbClr val="F1F5F9"/>
                </a:solidFill>
                <a:latin typeface="Segoe UI"/>
              </a:rPr>
              <a:t>: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>
                <a:latin typeface="Segoe UI"/>
              </a:defRPr>
            </a:pPr>
            <a:r>
              <a:rPr sz="1100" b="0">
                <a:solidFill>
                  <a:srgbClr val="F1F5F9"/>
                </a:solidFill>
                <a:latin typeface="Segoe UI"/>
              </a:rPr>
              <a:t>– Evaluation Framework: `PASS` across all 4 dimensions (Investigation, RCA, Remediation, Verification).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>
                <a:latin typeface="Segoe UI"/>
              </a:defRPr>
            </a:pPr>
            <a:r>
              <a:rPr sz="1100" b="0">
                <a:solidFill>
                  <a:srgbClr val="F1F5F9"/>
                </a:solidFill>
                <a:latin typeface="Segoe UI"/>
              </a:rPr>
              <a:t>– Replay Consistency: `MATCH` (verified without historical re-execution).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>
                <a:latin typeface="Segoe UI"/>
              </a:defRPr>
            </a:pPr>
            <a:r>
              <a:rPr sz="1100" b="0">
                <a:solidFill>
                  <a:srgbClr val="F1F5F9"/>
                </a:solidFill>
                <a:latin typeface="Segoe UI"/>
              </a:rPr>
              <a:t>– Postmortem: 9 structured sections generated deterministically.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53912" y="1463040"/>
            <a:ext cx="5303520" cy="23317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mediation-approval-verifi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1153" y="1536192"/>
            <a:ext cx="2809036" cy="186537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45352" y="3438144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50" b="1">
                <a:solidFill>
                  <a:srgbClr val="38BDF8"/>
                </a:solidFill>
                <a:latin typeface="Segoe UI"/>
              </a:defRPr>
            </a:pPr>
            <a:r>
              <a:t>Approval Gate &amp; Deterministic Health Verification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53912" y="4069080"/>
            <a:ext cx="5303520" cy="23317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replay-postmortem-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1153" y="4142232"/>
            <a:ext cx="2809036" cy="18653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45352" y="6044184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50" b="1">
                <a:solidFill>
                  <a:srgbClr val="38BDF8"/>
                </a:solidFill>
                <a:latin typeface="Segoe UI"/>
              </a:defRPr>
            </a:pPr>
            <a:r>
              <a:t>Automated 9-Section SRE Incident Postmortem View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2400" b="1">
                <a:solidFill>
                  <a:srgbClr val="FFFFFF"/>
                </a:solidFill>
                <a:latin typeface="Segoe UI"/>
              </a:defRPr>
            </a:pPr>
            <a:r>
              <a:t>Technical Testing &amp; Metric Disclosure</a:t>
            </a:r>
          </a:p>
          <a:p>
            <a:pPr>
              <a:defRPr sz="1300" b="0">
                <a:solidFill>
                  <a:srgbClr val="38BDF8"/>
                </a:solidFill>
                <a:latin typeface="Segoe UI"/>
              </a:defRPr>
            </a:pPr>
            <a:r>
              <a:t>Evidence-Based Verification Across Test Suites &amp; Build Pipelines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12080" cy="49377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Bef>
                <a:spcPts val="0"/>
              </a:spcBef>
              <a:spcAft>
                <a:spcPts val="300"/>
              </a:spcAft>
              <a:defRPr>
                <a:latin typeface="Segoe UI"/>
              </a:defRPr>
            </a:pPr>
            <a:r>
              <a:rPr sz="1350" b="0">
                <a:solidFill>
                  <a:srgbClr val="F1F5F9"/>
                </a:solidFill>
                <a:latin typeface="Segoe UI"/>
              </a:rPr>
              <a:t>• </a:t>
            </a:r>
            <a:r>
              <a:rPr sz="1350" b="1">
                <a:solidFill>
                  <a:srgbClr val="FFFFFF"/>
                </a:solidFill>
                <a:latin typeface="Segoe UI"/>
              </a:rPr>
              <a:t>Kubernetes-Compatible Test Suites</a:t>
            </a:r>
            <a:r>
              <a:rPr sz="1350" b="0">
                <a:solidFill>
                  <a:srgbClr val="F1F5F9"/>
                </a:solidFill>
                <a:latin typeface="Segoe UI"/>
              </a:rPr>
              <a:t>: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>
                <a:latin typeface="Segoe UI"/>
              </a:defRPr>
            </a:pPr>
            <a:r>
              <a:rPr sz="1200" b="0">
                <a:solidFill>
                  <a:srgbClr val="F1F5F9"/>
                </a:solidFill>
                <a:latin typeface="Segoe UI"/>
              </a:rPr>
              <a:t>– </a:t>
            </a:r>
            <a:r>
              <a:rPr sz="1200" b="1">
                <a:solidFill>
                  <a:srgbClr val="FFFFFF"/>
                </a:solidFill>
                <a:latin typeface="Segoe UI"/>
              </a:rPr>
              <a:t>152 / 152 PASSED (100% Pass Rate)</a:t>
            </a:r>
            <a:r>
              <a:rPr sz="1200" b="0">
                <a:solidFill>
                  <a:srgbClr val="F1F5F9"/>
                </a:solidFill>
                <a:latin typeface="Segoe UI"/>
              </a:rPr>
              <a:t> in 27.78 seconds.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>
                <a:latin typeface="Segoe UI"/>
              </a:defRPr>
            </a:pPr>
            <a:r>
              <a:rPr sz="1200" b="0">
                <a:solidFill>
                  <a:srgbClr val="F1F5F9"/>
                </a:solidFill>
                <a:latin typeface="Segoe UI"/>
              </a:rPr>
              <a:t>– Covers Phase 7 Knowledge Agent, Phase 8 Workflow Demo, Phase 8 Remediation, Phase 9 Verification, Phase 11 Evaluation, Phase 12 Replay/Postmortem, and Phase 13 Kubernetes architecture.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>
                <a:latin typeface="Segoe UI"/>
              </a:defRPr>
            </a:pPr>
            <a:r>
              <a:rPr sz="1200" b="0">
                <a:solidFill>
                  <a:srgbClr val="F1F5F9"/>
                </a:solidFill>
                <a:latin typeface="Segoe UI"/>
              </a:rPr>
              <a:t>– </a:t>
            </a:r>
            <a:r>
              <a:rPr sz="1200" b="1">
                <a:solidFill>
                  <a:srgbClr val="FFFFFF"/>
                </a:solidFill>
                <a:latin typeface="Segoe UI"/>
              </a:rPr>
              <a:t>Zero Failures, Zero Skipped</a:t>
            </a:r>
            <a:r>
              <a:rPr sz="1200" b="0">
                <a:solidFill>
                  <a:srgbClr val="F1F5F9"/>
                </a:solidFill>
                <a:latin typeface="Segoe UI"/>
              </a:rPr>
              <a:t>.</a:t>
            </a:r>
          </a:p>
          <a:p>
            <a:pPr>
              <a:spcBef>
                <a:spcPts val="500"/>
              </a:spcBef>
              <a:spcAft>
                <a:spcPts val="300"/>
              </a:spcAft>
              <a:defRPr>
                <a:latin typeface="Segoe UI"/>
              </a:defRPr>
            </a:pPr>
            <a:r>
              <a:rPr sz="1350" b="0">
                <a:solidFill>
                  <a:srgbClr val="F1F5F9"/>
                </a:solidFill>
                <a:latin typeface="Segoe UI"/>
              </a:rPr>
              <a:t>• </a:t>
            </a:r>
            <a:r>
              <a:rPr sz="1350" b="1">
                <a:solidFill>
                  <a:srgbClr val="FFFFFF"/>
                </a:solidFill>
                <a:latin typeface="Segoe UI"/>
              </a:rPr>
              <a:t>Frontend Production Build</a:t>
            </a:r>
            <a:r>
              <a:rPr sz="1350" b="0">
                <a:solidFill>
                  <a:srgbClr val="F1F5F9"/>
                </a:solidFill>
                <a:latin typeface="Segoe UI"/>
              </a:rPr>
              <a:t>: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>
                <a:latin typeface="Segoe UI"/>
              </a:defRPr>
            </a:pPr>
            <a:r>
              <a:rPr sz="1200" b="0">
                <a:solidFill>
                  <a:srgbClr val="F1F5F9"/>
                </a:solidFill>
                <a:latin typeface="Segoe UI"/>
              </a:rPr>
              <a:t>– `npm run build` completed cleanly in 1.96s with zero errors or warnings.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45352" y="1463040"/>
            <a:ext cx="5212080" cy="49377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Bef>
                <a:spcPts val="0"/>
              </a:spcBef>
              <a:spcAft>
                <a:spcPts val="300"/>
              </a:spcAft>
              <a:defRPr>
                <a:latin typeface="Segoe UI"/>
              </a:defRPr>
            </a:pPr>
            <a:r>
              <a:rPr sz="1350" b="0">
                <a:solidFill>
                  <a:srgbClr val="F1F5F9"/>
                </a:solidFill>
                <a:latin typeface="Segoe UI"/>
              </a:rPr>
              <a:t>• </a:t>
            </a:r>
            <a:r>
              <a:rPr sz="1350" b="1">
                <a:solidFill>
                  <a:srgbClr val="FFFFFF"/>
                </a:solidFill>
                <a:latin typeface="Segoe UI"/>
              </a:rPr>
              <a:t>Full Repository Test Suite Disclosure</a:t>
            </a:r>
            <a:r>
              <a:rPr sz="1350" b="0">
                <a:solidFill>
                  <a:srgbClr val="F1F5F9"/>
                </a:solidFill>
                <a:latin typeface="Segoe UI"/>
              </a:rPr>
              <a:t>: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>
                <a:latin typeface="Segoe UI"/>
              </a:defRPr>
            </a:pPr>
            <a:r>
              <a:rPr sz="1200" b="0">
                <a:solidFill>
                  <a:srgbClr val="F1F5F9"/>
                </a:solidFill>
                <a:latin typeface="Segoe UI"/>
              </a:rPr>
              <a:t>– </a:t>
            </a:r>
            <a:r>
              <a:rPr sz="1200" b="1">
                <a:solidFill>
                  <a:srgbClr val="FFFFFF"/>
                </a:solidFill>
                <a:latin typeface="Segoe UI"/>
              </a:rPr>
              <a:t>169 Passed, 15 Failed</a:t>
            </a:r>
            <a:r>
              <a:rPr sz="1200" b="0">
                <a:solidFill>
                  <a:srgbClr val="F1F5F9"/>
                </a:solidFill>
                <a:latin typeface="Segoe UI"/>
              </a:rPr>
              <a:t> out of 184 total tests.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>
                <a:latin typeface="Segoe UI"/>
              </a:defRPr>
            </a:pPr>
            <a:r>
              <a:rPr sz="1200" b="0">
                <a:solidFill>
                  <a:srgbClr val="F1F5F9"/>
                </a:solidFill>
                <a:latin typeface="Segoe UI"/>
              </a:rPr>
              <a:t>– </a:t>
            </a:r>
            <a:r>
              <a:rPr sz="1200" b="1">
                <a:solidFill>
                  <a:srgbClr val="FFFFFF"/>
                </a:solidFill>
                <a:latin typeface="Segoe UI"/>
              </a:rPr>
              <a:t>Root Cause of 15 Failures</a:t>
            </a:r>
            <a:r>
              <a:rPr sz="1200" b="0">
                <a:solidFill>
                  <a:srgbClr val="F1F5F9"/>
                </a:solidFill>
                <a:latin typeface="Segoe UI"/>
              </a:rPr>
              <a:t>: Exclusively legacy Docker Compose integration tests asserting obsolete host port mappings (`BACKEND_API = 8080` vs `8000`, and direct host ports `8001-8004` which are internal Kubernetes ClusterIPs).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>
                <a:latin typeface="Segoe UI"/>
              </a:defRPr>
            </a:pPr>
            <a:r>
              <a:rPr sz="1200" b="0">
                <a:solidFill>
                  <a:srgbClr val="F1F5F9"/>
                </a:solidFill>
                <a:latin typeface="Segoe UI"/>
              </a:rPr>
              <a:t>– </a:t>
            </a:r>
            <a:r>
              <a:rPr sz="1200" b="1">
                <a:solidFill>
                  <a:srgbClr val="FFFFFF"/>
                </a:solidFill>
                <a:latin typeface="Segoe UI"/>
              </a:rPr>
              <a:t>Zero Code Regressions</a:t>
            </a:r>
            <a:r>
              <a:rPr sz="1200" b="0">
                <a:solidFill>
                  <a:srgbClr val="F1F5F9"/>
                </a:solidFill>
                <a:latin typeface="Segoe UI"/>
              </a:rPr>
              <a:t> across all core application logic and agent orchestration workflows.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2400" b="1">
                <a:solidFill>
                  <a:srgbClr val="FFFFFF"/>
                </a:solidFill>
                <a:latin typeface="Segoe UI"/>
              </a:defRPr>
            </a:pPr>
            <a:r>
              <a:t>Security Architecture &amp; Operational Boundaries</a:t>
            </a:r>
          </a:p>
          <a:p>
            <a:pPr>
              <a:defRPr sz="1300" b="0">
                <a:solidFill>
                  <a:srgbClr val="38BDF8"/>
                </a:solidFill>
                <a:latin typeface="Segoe UI"/>
              </a:defRPr>
            </a:pPr>
            <a:r>
              <a:t>Hardened Production Guardrails &amp; Local Prototype Disclosures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12080" cy="49377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Bef>
                <a:spcPts val="0"/>
              </a:spcBef>
              <a:spcAft>
                <a:spcPts val="300"/>
              </a:spcAft>
              <a:defRPr>
                <a:latin typeface="Segoe UI"/>
              </a:defRPr>
            </a:pPr>
            <a:r>
              <a:rPr sz="1350" b="0">
                <a:solidFill>
                  <a:srgbClr val="F1F5F9"/>
                </a:solidFill>
                <a:latin typeface="Segoe UI"/>
              </a:rPr>
              <a:t>• </a:t>
            </a:r>
            <a:r>
              <a:rPr sz="1350" b="1">
                <a:solidFill>
                  <a:srgbClr val="FFFFFF"/>
                </a:solidFill>
                <a:latin typeface="Segoe UI"/>
              </a:rPr>
              <a:t>Hardened Production Constraints</a:t>
            </a:r>
            <a:r>
              <a:rPr sz="1350" b="0">
                <a:solidFill>
                  <a:srgbClr val="F1F5F9"/>
                </a:solidFill>
                <a:latin typeface="Segoe UI"/>
              </a:rPr>
              <a:t>: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>
                <a:latin typeface="Segoe UI"/>
              </a:defRPr>
            </a:pPr>
            <a:r>
              <a:rPr sz="1200" b="0">
                <a:solidFill>
                  <a:srgbClr val="F1F5F9"/>
                </a:solidFill>
                <a:latin typeface="Segoe UI"/>
              </a:rPr>
              <a:t>– </a:t>
            </a:r>
            <a:r>
              <a:rPr sz="1200" b="1">
                <a:solidFill>
                  <a:srgbClr val="FFFFFF"/>
                </a:solidFill>
                <a:latin typeface="Segoe UI"/>
              </a:rPr>
              <a:t>No Pod Privilege Escalation</a:t>
            </a:r>
            <a:r>
              <a:rPr sz="1200" b="0">
                <a:solidFill>
                  <a:srgbClr val="F1F5F9"/>
                </a:solidFill>
                <a:latin typeface="Segoe UI"/>
              </a:rPr>
              <a:t>: All application pods configure `automountServiceAccountToken: false`.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>
                <a:latin typeface="Segoe UI"/>
              </a:defRPr>
            </a:pPr>
            <a:r>
              <a:rPr sz="1200" b="0">
                <a:solidFill>
                  <a:srgbClr val="F1F5F9"/>
                </a:solidFill>
                <a:latin typeface="Segoe UI"/>
              </a:rPr>
              <a:t>– </a:t>
            </a:r>
            <a:r>
              <a:rPr sz="1200" b="1">
                <a:solidFill>
                  <a:srgbClr val="FFFFFF"/>
                </a:solidFill>
                <a:latin typeface="Segoe UI"/>
              </a:rPr>
              <a:t>Zero RBAC Abuse</a:t>
            </a:r>
            <a:r>
              <a:rPr sz="1200" b="0">
                <a:solidFill>
                  <a:srgbClr val="F1F5F9"/>
                </a:solidFill>
                <a:latin typeface="Segoe UI"/>
              </a:rPr>
              <a:t>: No Kubernetes cluster-admin or service account permissions granted to application pods.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>
                <a:latin typeface="Segoe UI"/>
              </a:defRPr>
            </a:pPr>
            <a:r>
              <a:rPr sz="1200" b="0">
                <a:solidFill>
                  <a:srgbClr val="F1F5F9"/>
                </a:solidFill>
                <a:latin typeface="Segoe UI"/>
              </a:rPr>
              <a:t>– </a:t>
            </a:r>
            <a:r>
              <a:rPr sz="1200" b="1">
                <a:solidFill>
                  <a:srgbClr val="FFFFFF"/>
                </a:solidFill>
                <a:latin typeface="Segoe UI"/>
              </a:rPr>
              <a:t>No Real Cluster Actuation</a:t>
            </a:r>
            <a:r>
              <a:rPr sz="1200" b="0">
                <a:solidFill>
                  <a:srgbClr val="F1F5F9"/>
                </a:solidFill>
                <a:latin typeface="Segoe UI"/>
              </a:rPr>
              <a:t>: LLM agents have zero access to shell commands or live Kubernetes APIs.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>
                <a:latin typeface="Segoe UI"/>
              </a:defRPr>
            </a:pPr>
            <a:r>
              <a:rPr sz="1200" b="0">
                <a:solidFill>
                  <a:srgbClr val="F1F5F9"/>
                </a:solidFill>
                <a:latin typeface="Segoe UI"/>
              </a:rPr>
              <a:t>– </a:t>
            </a:r>
            <a:r>
              <a:rPr sz="1200" b="1">
                <a:solidFill>
                  <a:srgbClr val="FFFFFF"/>
                </a:solidFill>
                <a:latin typeface="Segoe UI"/>
              </a:rPr>
              <a:t>Allowlist Enforcement</a:t>
            </a:r>
            <a:r>
              <a:rPr sz="1200" b="0">
                <a:solidFill>
                  <a:srgbClr val="F1F5F9"/>
                </a:solidFill>
                <a:latin typeface="Segoe UI"/>
              </a:rPr>
              <a:t>: Actions strictly restricted to 3 deterministic operations (`RESTART`, `SCALE`, `ROLLBACK`).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45352" y="1463040"/>
            <a:ext cx="5212080" cy="49377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Bef>
                <a:spcPts val="0"/>
              </a:spcBef>
              <a:spcAft>
                <a:spcPts val="300"/>
              </a:spcAft>
              <a:defRPr>
                <a:latin typeface="Segoe UI"/>
              </a:defRPr>
            </a:pPr>
            <a:r>
              <a:rPr sz="1350" b="0">
                <a:solidFill>
                  <a:srgbClr val="F1F5F9"/>
                </a:solidFill>
                <a:latin typeface="Segoe UI"/>
              </a:rPr>
              <a:t>• </a:t>
            </a:r>
            <a:r>
              <a:rPr sz="1350" b="1">
                <a:solidFill>
                  <a:srgbClr val="FFFFFF"/>
                </a:solidFill>
                <a:latin typeface="Segoe UI"/>
              </a:rPr>
              <a:t>Disclosed Local Development Boundaries</a:t>
            </a:r>
            <a:r>
              <a:rPr sz="1350" b="0">
                <a:solidFill>
                  <a:srgbClr val="F1F5F9"/>
                </a:solidFill>
                <a:latin typeface="Segoe UI"/>
              </a:rPr>
              <a:t>: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>
                <a:latin typeface="Segoe UI"/>
              </a:defRPr>
            </a:pPr>
            <a:r>
              <a:rPr sz="1200" b="0">
                <a:solidFill>
                  <a:srgbClr val="F1F5F9"/>
                </a:solidFill>
                <a:latin typeface="Segoe UI"/>
              </a:rPr>
              <a:t>– </a:t>
            </a:r>
            <a:r>
              <a:rPr sz="1200" b="1">
                <a:solidFill>
                  <a:srgbClr val="FFFFFF"/>
                </a:solidFill>
                <a:latin typeface="Segoe UI"/>
              </a:rPr>
              <a:t>Authentication / Authorization</a:t>
            </a:r>
            <a:r>
              <a:rPr sz="1200" b="0">
                <a:solidFill>
                  <a:srgbClr val="F1F5F9"/>
                </a:solidFill>
                <a:latin typeface="Segoe UI"/>
              </a:rPr>
              <a:t>: FastAPI backend has no token-based authentication middleware (scoped for local prototype demonstration).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>
                <a:latin typeface="Segoe UI"/>
              </a:defRPr>
            </a:pPr>
            <a:r>
              <a:rPr sz="1200" b="0">
                <a:solidFill>
                  <a:srgbClr val="F1F5F9"/>
                </a:solidFill>
                <a:latin typeface="Segoe UI"/>
              </a:rPr>
              <a:t>– </a:t>
            </a:r>
            <a:r>
              <a:rPr sz="1200" b="1">
                <a:solidFill>
                  <a:srgbClr val="FFFFFF"/>
                </a:solidFill>
                <a:latin typeface="Segoe UI"/>
              </a:rPr>
              <a:t>Default Credentials</a:t>
            </a:r>
            <a:r>
              <a:rPr sz="1200" b="0">
                <a:solidFill>
                  <a:srgbClr val="F1F5F9"/>
                </a:solidFill>
                <a:latin typeface="Segoe UI"/>
              </a:rPr>
              <a:t>: Development manifests configure default database passwords (`sentryops:sentryops`).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>
                <a:latin typeface="Segoe UI"/>
              </a:defRPr>
            </a:pPr>
            <a:r>
              <a:rPr sz="1200" b="0">
                <a:solidFill>
                  <a:srgbClr val="F1F5F9"/>
                </a:solidFill>
                <a:latin typeface="Segoe UI"/>
              </a:rPr>
              <a:t>– </a:t>
            </a:r>
            <a:r>
              <a:rPr sz="1200" b="1">
                <a:solidFill>
                  <a:srgbClr val="FFFFFF"/>
                </a:solidFill>
                <a:latin typeface="Segoe UI"/>
              </a:rPr>
              <a:t>Insecure Metrics TLS</a:t>
            </a:r>
            <a:r>
              <a:rPr sz="1200" b="0">
                <a:solidFill>
                  <a:srgbClr val="F1F5F9"/>
                </a:solidFill>
                <a:latin typeface="Segoe UI"/>
              </a:rPr>
              <a:t>: Kind Metrics Server configured with `--kubelet-insecure-tls` for local container scraping.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2400" b="1">
                <a:solidFill>
                  <a:srgbClr val="FFFFFF"/>
                </a:solidFill>
                <a:latin typeface="Segoe UI"/>
              </a:defRPr>
            </a:pPr>
            <a:r>
              <a:t>Summary &amp; Future Roadmap</a:t>
            </a:r>
          </a:p>
          <a:p>
            <a:pPr>
              <a:defRPr sz="1300" b="0">
                <a:solidFill>
                  <a:srgbClr val="38BDF8"/>
                </a:solidFill>
                <a:latin typeface="Segoe UI"/>
              </a:defRPr>
            </a:pPr>
            <a:r>
              <a:t>Key Achievements &amp; Next Steps for Production Evolution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12080" cy="49377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Bef>
                <a:spcPts val="0"/>
              </a:spcBef>
              <a:spcAft>
                <a:spcPts val="300"/>
              </a:spcAft>
              <a:defRPr>
                <a:latin typeface="Segoe UI"/>
              </a:defRPr>
            </a:pPr>
            <a:r>
              <a:rPr sz="1350" b="0">
                <a:solidFill>
                  <a:srgbClr val="F1F5F9"/>
                </a:solidFill>
                <a:latin typeface="Segoe UI"/>
              </a:rPr>
              <a:t>• </a:t>
            </a:r>
            <a:r>
              <a:rPr sz="1350" b="1">
                <a:solidFill>
                  <a:srgbClr val="FFFFFF"/>
                </a:solidFill>
                <a:latin typeface="Segoe UI"/>
              </a:rPr>
              <a:t>Key Project Achievements</a:t>
            </a:r>
            <a:r>
              <a:rPr sz="1350" b="0">
                <a:solidFill>
                  <a:srgbClr val="F1F5F9"/>
                </a:solidFill>
                <a:latin typeface="Segoe UI"/>
              </a:rPr>
              <a:t>: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>
                <a:latin typeface="Segoe UI"/>
              </a:defRPr>
            </a:pPr>
            <a:r>
              <a:rPr sz="1200" b="0">
                <a:solidFill>
                  <a:srgbClr val="F1F5F9"/>
                </a:solidFill>
                <a:latin typeface="Segoe UI"/>
              </a:rPr>
              <a:t>– Complete, observable, multi-agent incident response lifecycle from alert to postmortem.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>
                <a:latin typeface="Segoe UI"/>
              </a:defRPr>
            </a:pPr>
            <a:r>
              <a:rPr sz="1200" b="0">
                <a:solidFill>
                  <a:srgbClr val="F1F5F9"/>
                </a:solidFill>
                <a:latin typeface="Segoe UI"/>
              </a:rPr>
              <a:t>– </a:t>
            </a:r>
            <a:r>
              <a:rPr sz="1200" b="1">
                <a:solidFill>
                  <a:srgbClr val="FFFFFF"/>
                </a:solidFill>
                <a:latin typeface="Segoe UI"/>
              </a:rPr>
              <a:t>100% passing</a:t>
            </a:r>
            <a:r>
              <a:rPr sz="1200" b="0">
                <a:solidFill>
                  <a:srgbClr val="F1F5F9"/>
                </a:solidFill>
                <a:latin typeface="Segoe UI"/>
              </a:rPr>
              <a:t> Kubernetes-compatible test suites (152/152).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>
                <a:latin typeface="Segoe UI"/>
              </a:defRPr>
            </a:pPr>
            <a:r>
              <a:rPr sz="1200" b="0">
                <a:solidFill>
                  <a:srgbClr val="F1F5F9"/>
                </a:solidFill>
                <a:latin typeface="Segoe UI"/>
              </a:rPr>
              <a:t>– Deterministic safety gates preventing AI hallucination and unauthorized actuation.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>
                <a:latin typeface="Segoe UI"/>
              </a:defRPr>
            </a:pPr>
            <a:r>
              <a:rPr sz="1200" b="0">
                <a:solidFill>
                  <a:srgbClr val="F1F5F9"/>
                </a:solidFill>
                <a:latin typeface="Segoe UI"/>
              </a:rPr>
              <a:t>– Full-stack integration with Prometheus, Loki, Jaeger, Grafana, and React 19 UI.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45352" y="1463040"/>
            <a:ext cx="5212080" cy="49377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Bef>
                <a:spcPts val="0"/>
              </a:spcBef>
              <a:spcAft>
                <a:spcPts val="300"/>
              </a:spcAft>
              <a:defRPr>
                <a:latin typeface="Segoe UI"/>
              </a:defRPr>
            </a:pPr>
            <a:r>
              <a:rPr sz="1350" b="0">
                <a:solidFill>
                  <a:srgbClr val="F1F5F9"/>
                </a:solidFill>
                <a:latin typeface="Segoe UI"/>
              </a:rPr>
              <a:t>• </a:t>
            </a:r>
            <a:r>
              <a:rPr sz="1350" b="1">
                <a:solidFill>
                  <a:srgbClr val="FFFFFF"/>
                </a:solidFill>
                <a:latin typeface="Segoe UI"/>
              </a:rPr>
              <a:t>Future Strategic Roadmap</a:t>
            </a:r>
            <a:r>
              <a:rPr sz="1350" b="0">
                <a:solidFill>
                  <a:srgbClr val="F1F5F9"/>
                </a:solidFill>
                <a:latin typeface="Segoe UI"/>
              </a:rPr>
              <a:t>: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>
                <a:latin typeface="Segoe UI"/>
              </a:defRPr>
            </a:pPr>
            <a:r>
              <a:rPr sz="1200" b="0">
                <a:solidFill>
                  <a:srgbClr val="F1F5F9"/>
                </a:solidFill>
                <a:latin typeface="Segoe UI"/>
              </a:rPr>
              <a:t>– </a:t>
            </a:r>
            <a:r>
              <a:rPr sz="1200" b="1">
                <a:solidFill>
                  <a:srgbClr val="FFFFFF"/>
                </a:solidFill>
                <a:latin typeface="Segoe UI"/>
              </a:rPr>
              <a:t>Production LLM Integration</a:t>
            </a:r>
            <a:r>
              <a:rPr sz="1200" b="0">
                <a:solidFill>
                  <a:srgbClr val="F1F5F9"/>
                </a:solidFill>
                <a:latin typeface="Segoe UI"/>
              </a:rPr>
              <a:t>: Connecting live models (Claude 3.5 Sonnet / GPT-4o) under the same deterministic safety gates.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>
                <a:latin typeface="Segoe UI"/>
              </a:defRPr>
            </a:pPr>
            <a:r>
              <a:rPr sz="1200" b="0">
                <a:solidFill>
                  <a:srgbClr val="F1F5F9"/>
                </a:solidFill>
                <a:latin typeface="Segoe UI"/>
              </a:rPr>
              <a:t>– </a:t>
            </a:r>
            <a:r>
              <a:rPr sz="1200" b="1">
                <a:solidFill>
                  <a:srgbClr val="FFFFFF"/>
                </a:solidFill>
                <a:latin typeface="Segoe UI"/>
              </a:rPr>
              <a:t>Enterprise Security</a:t>
            </a:r>
            <a:r>
              <a:rPr sz="1200" b="0">
                <a:solidFill>
                  <a:srgbClr val="F1F5F9"/>
                </a:solidFill>
                <a:latin typeface="Segoe UI"/>
              </a:rPr>
              <a:t>: Multi-tenant RBAC and API key authentication on incident management endpoints.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>
                <a:latin typeface="Segoe UI"/>
              </a:defRPr>
            </a:pPr>
            <a:r>
              <a:rPr sz="1200" b="0">
                <a:solidFill>
                  <a:srgbClr val="F1F5F9"/>
                </a:solidFill>
                <a:latin typeface="Segoe UI"/>
              </a:rPr>
              <a:t>– </a:t>
            </a:r>
            <a:r>
              <a:rPr sz="1200" b="1">
                <a:solidFill>
                  <a:srgbClr val="FFFFFF"/>
                </a:solidFill>
                <a:latin typeface="Segoe UI"/>
              </a:rPr>
              <a:t>GitOps-Driven Actuation</a:t>
            </a:r>
            <a:r>
              <a:rPr sz="1200" b="0">
                <a:solidFill>
                  <a:srgbClr val="F1F5F9"/>
                </a:solidFill>
                <a:latin typeface="Segoe UI"/>
              </a:rPr>
              <a:t>: PR-based remediation proposals via ArgoCD or Flux.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>
                <a:latin typeface="Segoe UI"/>
              </a:defRPr>
            </a:pPr>
            <a:r>
              <a:rPr sz="1200" b="0">
                <a:solidFill>
                  <a:srgbClr val="F1F5F9"/>
                </a:solidFill>
                <a:latin typeface="Segoe UI"/>
              </a:rPr>
              <a:t>– </a:t>
            </a:r>
            <a:r>
              <a:rPr sz="1200" b="1">
                <a:solidFill>
                  <a:srgbClr val="FFFFFF"/>
                </a:solidFill>
                <a:latin typeface="Segoe UI"/>
              </a:rPr>
              <a:t>Cloud Observability</a:t>
            </a:r>
            <a:r>
              <a:rPr sz="1200" b="0">
                <a:solidFill>
                  <a:srgbClr val="F1F5F9"/>
                </a:solidFill>
                <a:latin typeface="Segoe UI"/>
              </a:rPr>
              <a:t>: Persistent storage provisioned on AWS EKS or GCP GKE.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