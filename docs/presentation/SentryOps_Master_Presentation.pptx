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7" r:id="rId18"/>
    <p:sldId id="268" r:id="rId19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38BDF8"/>
                </a:solidFill>
                <a:latin typeface="Segoe UI"/>
              </a:defRPr>
            </a:pPr>
            <a:r>
              <a:t>SentryOps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Autonomous Multi-Agent Production Incident Response &amp; Root Cause Analysis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1072865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42900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OPERATIONAL DOMAIN</a:t>
            </a:r>
          </a:p>
          <a:p>
            <a:pPr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Site Reliability Engineering (SRE)</a:t>
            </a:r>
            <a:r>
              <a:rPr sz="1250" b="0">
                <a:solidFill>
                  <a:srgbClr val="F1F5F9"/>
                </a:solidFill>
                <a:latin typeface="Segoe UI"/>
              </a:rPr>
              <a:t>: Autonomous incident triage and dynamic mitigation.</a:t>
            </a:r>
          </a:p>
          <a:p>
            <a:pPr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Unified Observability</a:t>
            </a:r>
            <a:r>
              <a:rPr sz="1250" b="0">
                <a:solidFill>
                  <a:srgbClr val="F1F5F9"/>
                </a:solidFill>
                <a:latin typeface="Segoe UI"/>
              </a:rPr>
              <a:t>: Tri-modal correlation across metrics, logs, and traces.</a:t>
            </a:r>
          </a:p>
          <a:p>
            <a:pPr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Enterprise Safety</a:t>
            </a:r>
            <a:r>
              <a:rPr sz="1250" b="0">
                <a:solidFill>
                  <a:srgbClr val="F1F5F9"/>
                </a:solidFill>
                <a:latin typeface="Segoe UI"/>
              </a:rPr>
              <a:t>: Rigorous human-in-the-loop approvals before infrastructure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3291840"/>
            <a:ext cx="342900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CORE ARCHITECTURE</a:t>
            </a:r>
          </a:p>
          <a:p>
            <a:pPr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Agent Orchestration</a:t>
            </a:r>
            <a:r>
              <a:rPr sz="1250" b="0">
                <a:solidFill>
                  <a:srgbClr val="F1F5F9"/>
                </a:solidFill>
                <a:latin typeface="Segoe UI"/>
              </a:rPr>
              <a:t>: Python 3.11+ with LangGraph state graph coordination.</a:t>
            </a:r>
          </a:p>
          <a:p>
            <a:pPr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Frontend &amp; Storage</a:t>
            </a:r>
            <a:r>
              <a:rPr sz="1250" b="0">
                <a:solidFill>
                  <a:srgbClr val="F1F5F9"/>
                </a:solidFill>
                <a:latin typeface="Segoe UI"/>
              </a:rPr>
              <a:t>: React 19, TypeScript, PostgreSQL 15 + pgvector for RAG.</a:t>
            </a:r>
          </a:p>
          <a:p>
            <a:pPr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Infrastructure</a:t>
            </a:r>
            <a:r>
              <a:rPr sz="1250" b="0">
                <a:solidFill>
                  <a:srgbClr val="F1F5F9"/>
                </a:solidFill>
                <a:latin typeface="Segoe UI"/>
              </a:rPr>
              <a:t>: Kubernetes cluster (Kind) with Prometheus, Loki, Jaeger &amp; Grafana.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3291840"/>
            <a:ext cx="342900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GOVERNING PRINCIPLE</a:t>
            </a:r>
          </a:p>
          <a:p>
            <a:pPr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Empowered AI Investigation</a:t>
            </a:r>
            <a:r>
              <a:rPr sz="1250" b="0">
                <a:solidFill>
                  <a:srgbClr val="F1F5F9"/>
                </a:solidFill>
                <a:latin typeface="Segoe UI"/>
              </a:rPr>
              <a:t>: Parallel investigative reasoning across telemetry stores.</a:t>
            </a:r>
          </a:p>
          <a:p>
            <a:pPr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Strict Deterministic Guardrails</a:t>
            </a:r>
            <a:r>
              <a:rPr sz="1250" b="0">
                <a:solidFill>
                  <a:srgbClr val="F1F5F9"/>
                </a:solidFill>
                <a:latin typeface="Segoe UI"/>
              </a:rPr>
              <a:t>: Hardcoded safety rules, zero direct cluster actuation.</a:t>
            </a:r>
          </a:p>
          <a:p>
            <a:pPr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Anti-Hallucination Gate</a:t>
            </a:r>
            <a:r>
              <a:rPr sz="1250" b="0">
                <a:solidFill>
                  <a:srgbClr val="F1F5F9"/>
                </a:solidFill>
                <a:latin typeface="Segoe UI"/>
              </a:rPr>
              <a:t>: Evidence IDs verified against ground truth before RCA generation.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Modern Production Incident Dilemma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Operational Bottlenecks in Modern Cloud-Native Microservices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FRAGMENTED TELEMETRY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Alert Storms &amp; Noise</a:t>
            </a:r>
            <a:r>
              <a:rPr sz="1300" b="0">
                <a:solidFill>
                  <a:srgbClr val="F1F5F9"/>
                </a:solidFill>
                <a:latin typeface="Segoe UI"/>
              </a:rPr>
              <a:t>: High-severity incidents trigger cascading alerts across dozens of decoupled microservices.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Context Switching</a:t>
            </a:r>
            <a:r>
              <a:rPr sz="1300" b="0">
                <a:solidFill>
                  <a:srgbClr val="F1F5F9"/>
                </a:solidFill>
                <a:latin typeface="Segoe UI"/>
              </a:rPr>
              <a:t>: On-call engineers waste critical minutes manually correlating logs across Loki, metrics across Prometheus, and traces across Jaeger.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Siloed Insights</a:t>
            </a:r>
            <a:r>
              <a:rPr sz="1300" b="0">
                <a:solidFill>
                  <a:srgbClr val="F1F5F9"/>
                </a:solidFill>
                <a:latin typeface="Segoe UI"/>
              </a:rPr>
              <a:t>: Lack of unified causality mapping delays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463040"/>
            <a:ext cx="342900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PROLONGED MTTR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80%+ Diagnosis Overhead</a:t>
            </a:r>
            <a:r>
              <a:rPr sz="1300" b="0">
                <a:solidFill>
                  <a:srgbClr val="F1F5F9"/>
                </a:solidFill>
                <a:latin typeface="Segoe UI"/>
              </a:rPr>
              <a:t>: In complex distributed architectures, identifying the root cause consumes the majority of incident recovery time.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Runbook Retrieval Latency</a:t>
            </a:r>
            <a:r>
              <a:rPr sz="1300" b="0">
                <a:solidFill>
                  <a:srgbClr val="F1F5F9"/>
                </a:solidFill>
                <a:latin typeface="Segoe UI"/>
              </a:rPr>
              <a:t>: Relevant operational runbooks and historical postmortems are rarely surfaced when outages strike.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Cognitive Burnout</a:t>
            </a:r>
            <a:r>
              <a:rPr sz="1300" b="0">
                <a:solidFill>
                  <a:srgbClr val="F1F5F9"/>
                </a:solidFill>
                <a:latin typeface="Segoe UI"/>
              </a:rPr>
              <a:t>: High-stress manual triage increases operator mistakes under severe SLA pressure.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63040"/>
            <a:ext cx="342900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FBBF24"/>
                </a:solidFill>
              </a:defRPr>
            </a:pPr>
            <a:r>
              <a:t>UNCONSTRAINED AI RISKS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Hallucinated Commands</a:t>
            </a:r>
            <a:r>
              <a:rPr sz="1300" b="0">
                <a:solidFill>
                  <a:srgbClr val="F1F5F9"/>
                </a:solidFill>
                <a:latin typeface="Segoe UI"/>
              </a:rPr>
              <a:t>: Giving an LLM direct shell access or raw kubectl execution creates catastrophic reliability risks.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Cascading Outages</a:t>
            </a:r>
            <a:r>
              <a:rPr sz="1300" b="0">
                <a:solidFill>
                  <a:srgbClr val="F1F5F9"/>
                </a:solidFill>
                <a:latin typeface="Segoe UI"/>
              </a:rPr>
              <a:t>: Unbounded autonomous remediation can accidentally delete databases or terminate healthy services.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Missing Auditability</a:t>
            </a:r>
            <a:r>
              <a:rPr sz="1300" b="0">
                <a:solidFill>
                  <a:srgbClr val="F1F5F9"/>
                </a:solidFill>
                <a:latin typeface="Segoe UI"/>
              </a:rPr>
              <a:t>: Autonomous black-box actions violate compliance, governance, and organizational change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SentryOps Solution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End-to-End Autonomous Incident Lifecycle with Deterministic Safety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Simulated Production Architecture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5 FastAPI microservices (`order`, `payment`, `notification`, `user`, `api-gateway`).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Dynamic fault-injection API running inside the Kubernetes cluster on port 8005.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End-to-End Observability Pipeline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Full OpenTelemetry instrumentation across all routes.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Real-time Prometheus metrics, Loki structured log streaming, and Jaeger distributed traces visualized in Grafana.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Parallel Multi-Agent Orchestration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LangGraph manages specialized agents with structured fan-in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Deterministic Safety Guardrails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Strict Allowlist</a:t>
            </a:r>
            <a:r>
              <a:rPr sz="1200" b="0">
                <a:solidFill>
                  <a:srgbClr val="F1F5F9"/>
                </a:solidFill>
                <a:latin typeface="Segoe UI"/>
              </a:rPr>
              <a:t>: Remediations limited exclusively to `RESTART_SERVICE`, `SCALE_SERVICE`, and `ROLLBACK_SERVICE`.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Non-LLM Risk Engine</a:t>
            </a:r>
            <a:r>
              <a:rPr sz="1200" b="0">
                <a:solidFill>
                  <a:srgbClr val="F1F5F9"/>
                </a:solidFill>
                <a:latin typeface="Segoe UI"/>
              </a:rPr>
              <a:t>: Deterministic rules classify actions (`LOW`, `MEDIUM`, `HIGH`) independently of LLM reasoning.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Mandatory Human Approval Gate</a:t>
            </a:r>
            <a:r>
              <a:rPr sz="1200" b="0">
                <a:solidFill>
                  <a:srgbClr val="F1F5F9"/>
                </a:solidFill>
                <a:latin typeface="Segoe UI"/>
              </a:rPr>
              <a:t>: All medium and high-risk proposals halt at `PENDING_APPROVAL`.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Zero Cluster Actuation</a:t>
            </a:r>
            <a:r>
              <a:rPr sz="1200" b="0">
                <a:solidFill>
                  <a:srgbClr val="F1F5F9"/>
                </a:solidFill>
                <a:latin typeface="Segoe UI"/>
              </a:rPr>
              <a:t>: Agents operate against `SIMULATED_INFRA_STATE` without direct `kubectl` privilege.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Automated Verification &amp; Postmortem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Post-remediation health checks verify recovery and compile structured postmortems.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Multi-Agent Parallel Investigation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LangGraph Fan-Out / Fan-In Investigative Workflow &amp; Anti-Hallucination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Incident Trigger &amp; Dispatch</a:t>
            </a:r>
            <a:r>
              <a:rPr sz="130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Outage detected via error-rate threshold or synthetic fault API.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`IncidentManager` spawns parallel investigation across 6 specialized agents.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Parallel Specialized Agents (Fan-Out)</a:t>
            </a:r>
            <a:r>
              <a:rPr sz="130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</a:t>
            </a:r>
            <a:r>
              <a:rPr sz="1150" b="1">
                <a:solidFill>
                  <a:srgbClr val="FFFFFF"/>
                </a:solidFill>
                <a:latin typeface="Segoe UI"/>
              </a:rPr>
              <a:t>LogAgent</a:t>
            </a:r>
            <a:r>
              <a:rPr sz="1150" b="0">
                <a:solidFill>
                  <a:srgbClr val="F1F5F9"/>
                </a:solidFill>
                <a:latin typeface="Segoe UI"/>
              </a:rPr>
              <a:t>: Queries Loki for error stacks, 5xx status codes, and exceptions.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</a:t>
            </a:r>
            <a:r>
              <a:rPr sz="1150" b="1">
                <a:solidFill>
                  <a:srgbClr val="FFFFFF"/>
                </a:solidFill>
                <a:latin typeface="Segoe UI"/>
              </a:rPr>
              <a:t>MetricAgent</a:t>
            </a:r>
            <a:r>
              <a:rPr sz="1150" b="0">
                <a:solidFill>
                  <a:srgbClr val="F1F5F9"/>
                </a:solidFill>
                <a:latin typeface="Segoe UI"/>
              </a:rPr>
              <a:t>: Queries Prometheus for error rate spikes and P95 latency.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</a:t>
            </a:r>
            <a:r>
              <a:rPr sz="1150" b="1">
                <a:solidFill>
                  <a:srgbClr val="FFFFFF"/>
                </a:solidFill>
                <a:latin typeface="Segoe UI"/>
              </a:rPr>
              <a:t>TraceAgent</a:t>
            </a:r>
            <a:r>
              <a:rPr sz="1150" b="0">
                <a:solidFill>
                  <a:srgbClr val="F1F5F9"/>
                </a:solidFill>
                <a:latin typeface="Segoe UI"/>
              </a:rPr>
              <a:t>: Queries Jaeger for error spans, tags, and trace waterfalls.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</a:t>
            </a:r>
            <a:r>
              <a:rPr sz="1150" b="1">
                <a:solidFill>
                  <a:srgbClr val="FFFFFF"/>
                </a:solidFill>
                <a:latin typeface="Segoe UI"/>
              </a:rPr>
              <a:t>DeploymentAgent</a:t>
            </a:r>
            <a:r>
              <a:rPr sz="1150" b="0">
                <a:solidFill>
                  <a:srgbClr val="F1F5F9"/>
                </a:solidFill>
                <a:latin typeface="Segoe UI"/>
              </a:rPr>
              <a:t>: Checks recent config changes, releases, and fault flags.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</a:t>
            </a:r>
            <a:r>
              <a:rPr sz="1150" b="1">
                <a:solidFill>
                  <a:srgbClr val="FFFFFF"/>
                </a:solidFill>
                <a:latin typeface="Segoe UI"/>
              </a:rPr>
              <a:t>InfraAgent</a:t>
            </a:r>
            <a:r>
              <a:rPr sz="1150" b="0">
                <a:solidFill>
                  <a:srgbClr val="F1F5F9"/>
                </a:solidFill>
                <a:latin typeface="Segoe UI"/>
              </a:rPr>
              <a:t>: Scrapes node memory, CPU, and pod restart health.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</a:t>
            </a:r>
            <a:r>
              <a:rPr sz="1150" b="1">
                <a:solidFill>
                  <a:srgbClr val="FFFFFF"/>
                </a:solidFill>
                <a:latin typeface="Segoe UI"/>
              </a:rPr>
              <a:t>KnowledgeAgent</a:t>
            </a:r>
            <a:r>
              <a:rPr sz="1150" b="0">
                <a:solidFill>
                  <a:srgbClr val="F1F5F9"/>
                </a:solidFill>
                <a:latin typeface="Segoe UI"/>
              </a:rPr>
              <a:t>: Retrieves relevant historical runbooks via pgvector RAG.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Structured Synthesis (Fan-In)</a:t>
            </a:r>
            <a:r>
              <a:rPr sz="130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Specialized agents populate a centralized incident evidence store.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RCA Agent &amp; Anti-Hallucination Gate</a:t>
            </a:r>
            <a:r>
              <a:rPr sz="130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Performs evidence linkage and cross-source causal synthesis.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</a:t>
            </a:r>
            <a:r>
              <a:rPr sz="1150" b="1">
                <a:solidFill>
                  <a:srgbClr val="FFFFFF"/>
                </a:solidFill>
                <a:latin typeface="Segoe UI"/>
              </a:rPr>
              <a:t>Strict Validation Gate</a:t>
            </a:r>
            <a:r>
              <a:rPr sz="1150" b="0">
                <a:solidFill>
                  <a:srgbClr val="F1F5F9"/>
                </a:solidFill>
                <a:latin typeface="Segoe UI"/>
              </a:rPr>
              <a:t>: The RCA Agent algorithmically validates that all cited evidence IDs exist in the evidence store before conclusions are finalized.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RemediationAgent &amp; Risk Policy</a:t>
            </a:r>
            <a:r>
              <a:rPr sz="130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Formulates structured mitigation action matching the RCA hypothesis.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Enforces deterministic risk assessment before any action can proceed.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Input-to-Output Flow Summary</a:t>
            </a:r>
            <a:r>
              <a:rPr sz="130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8BDF8"/>
                </a:solidFill>
                <a:latin typeface="Segoe UI"/>
              </a:rPr>
              <a:t>• Telemetry &amp; Signals (Input) ➔ Parallel Investigation ➔ Risk Gate &amp; Verification (Output).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Deterministic Risk Policy &amp; Approval Gate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Human-in-the-Loop Operational Safety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LOW RISK POLICY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Policy Rule</a:t>
            </a:r>
            <a:r>
              <a:rPr sz="1300" b="0">
                <a:solidFill>
                  <a:srgbClr val="F1F5F9"/>
                </a:solidFill>
                <a:latin typeface="Segoe UI"/>
              </a:rPr>
              <a:t>: Restarting a single unhealthy microservice instance.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Autonomous Execution</a:t>
            </a:r>
            <a:r>
              <a:rPr sz="1300" b="0">
                <a:solidFill>
                  <a:srgbClr val="F1F5F9"/>
                </a:solidFill>
                <a:latin typeface="Segoe UI"/>
              </a:rPr>
              <a:t>: Allowed (Simulated).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Operator Action</a:t>
            </a:r>
            <a:r>
              <a:rPr sz="1300" b="0">
                <a:solidFill>
                  <a:srgbClr val="F1F5F9"/>
                </a:solidFill>
                <a:latin typeface="Segoe UI"/>
              </a:rPr>
              <a:t>: None required (automatically advances to post-remediation verification).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463040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MEDIUM RISK POLICY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Policy Rule</a:t>
            </a:r>
            <a:r>
              <a:rPr sz="1300" b="0">
                <a:solidFill>
                  <a:srgbClr val="F1F5F9"/>
                </a:solidFill>
                <a:latin typeface="Segoe UI"/>
              </a:rPr>
              <a:t>: Scaling service replica counts (`SCALE_SERVICE`).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Autonomous Execution</a:t>
            </a:r>
            <a:r>
              <a:rPr sz="1300" b="0">
                <a:solidFill>
                  <a:srgbClr val="F1F5F9"/>
                </a:solidFill>
                <a:latin typeface="Segoe UI"/>
              </a:rPr>
              <a:t>: </a:t>
            </a:r>
            <a:r>
              <a:rPr sz="1300" b="1">
                <a:solidFill>
                  <a:srgbClr val="FFFFFF"/>
                </a:solidFill>
                <a:latin typeface="Segoe UI"/>
              </a:rPr>
              <a:t>Prohibited</a:t>
            </a:r>
            <a:r>
              <a:rPr sz="1300" b="0">
                <a:solidFill>
                  <a:srgbClr val="F1F5F9"/>
                </a:solidFill>
                <a:latin typeface="Segoe UI"/>
              </a:rPr>
              <a:t>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Operator Action</a:t>
            </a:r>
            <a:r>
              <a:rPr sz="1300" b="0">
                <a:solidFill>
                  <a:srgbClr val="F1F5F9"/>
                </a:solidFill>
                <a:latin typeface="Segoe UI"/>
              </a:rPr>
              <a:t>: </a:t>
            </a:r>
            <a:r>
              <a:rPr sz="1300" b="1">
                <a:solidFill>
                  <a:srgbClr val="FFFFFF"/>
                </a:solidFill>
                <a:latin typeface="Segoe UI"/>
              </a:rPr>
              <a:t>Mandatory Operator Approval</a:t>
            </a:r>
            <a:r>
              <a:rPr sz="1300" b="0">
                <a:solidFill>
                  <a:srgbClr val="F1F5F9"/>
                </a:solidFill>
                <a:latin typeface="Segoe UI"/>
              </a:rPr>
              <a:t> required via dashboard before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63040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HIGH RISK POLICY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Policy Rule</a:t>
            </a:r>
            <a:r>
              <a:rPr sz="1300" b="0">
                <a:solidFill>
                  <a:srgbClr val="F1F5F9"/>
                </a:solidFill>
                <a:latin typeface="Segoe UI"/>
              </a:rPr>
              <a:t>: Multi-instance restarts or configuration rollbacks (`ROLLBACK_SERVICE`).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Autonomous Execution</a:t>
            </a:r>
            <a:r>
              <a:rPr sz="1300" b="0">
                <a:solidFill>
                  <a:srgbClr val="F1F5F9"/>
                </a:solidFill>
                <a:latin typeface="Segoe UI"/>
              </a:rPr>
              <a:t>: </a:t>
            </a:r>
            <a:r>
              <a:rPr sz="1300" b="1">
                <a:solidFill>
                  <a:srgbClr val="FFFFFF"/>
                </a:solidFill>
                <a:latin typeface="Segoe UI"/>
              </a:rPr>
              <a:t>Prohibited</a:t>
            </a:r>
            <a:r>
              <a:rPr sz="1300" b="0">
                <a:solidFill>
                  <a:srgbClr val="F1F5F9"/>
                </a:solidFill>
                <a:latin typeface="Segoe UI"/>
              </a:rPr>
              <a:t>.</a:t>
            </a:r>
          </a:p>
          <a:p>
            <a:pPr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Operator Action</a:t>
            </a:r>
            <a:r>
              <a:rPr sz="1300" b="0">
                <a:solidFill>
                  <a:srgbClr val="F1F5F9"/>
                </a:solidFill>
                <a:latin typeface="Segoe UI"/>
              </a:rPr>
              <a:t>: </a:t>
            </a:r>
            <a:r>
              <a:rPr sz="1300" b="1">
                <a:solidFill>
                  <a:srgbClr val="FFFFFF"/>
                </a:solidFill>
                <a:latin typeface="Segoe UI"/>
              </a:rPr>
              <a:t>Mandatory Operator Approval</a:t>
            </a:r>
            <a:r>
              <a:rPr sz="1300" b="0">
                <a:solidFill>
                  <a:srgbClr val="F1F5F9"/>
                </a:solidFill>
                <a:latin typeface="Segoe UI"/>
              </a:rPr>
              <a:t>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0728655" cy="2240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State Machine Enforcement</a:t>
            </a:r>
            <a:r>
              <a:rPr sz="130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Any proposal classified as `MEDIUM` or `HIGH` automatically transitions to `PENDING_APPROVAL` and halts execution.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Operator Approval API (`POST /incidents/{id}/approve`)</a:t>
            </a:r>
            <a:r>
              <a:rPr sz="130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Records approval audit trail, transitions status to `APPROVED`, and triggers deterministic simulated execution.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00" b="0">
                <a:solidFill>
                  <a:srgbClr val="F1F5F9"/>
                </a:solidFill>
                <a:latin typeface="Segoe UI"/>
              </a:rPr>
              <a:t>• </a:t>
            </a:r>
            <a:r>
              <a:rPr sz="1300" b="1">
                <a:solidFill>
                  <a:srgbClr val="FFFFFF"/>
                </a:solidFill>
                <a:latin typeface="Segoe UI"/>
              </a:rPr>
              <a:t>Operator Rejection API (`POST /incidents/{id}/reject`)</a:t>
            </a:r>
            <a:r>
              <a:rPr sz="130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50" b="0">
                <a:solidFill>
                  <a:srgbClr val="F1F5F9"/>
                </a:solidFill>
                <a:latin typeface="Segoe UI"/>
              </a:rPr>
              <a:t>– Transitions status to `REJECTED`, cancels remediation execution, and returns incident to `INVESTIGATING`.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Observable Telemetry &amp; Operator Dashboard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Real-Time Telemetry Visibility Across Prometheus, Loki, Jaeger &amp; React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Grafana Observability Dashboard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</a:t>
            </a:r>
            <a:r>
              <a:rPr sz="1100" b="1">
                <a:solidFill>
                  <a:srgbClr val="FFFFFF"/>
                </a:solidFill>
                <a:latin typeface="Segoe UI"/>
              </a:rPr>
              <a:t>Service Health Status</a:t>
            </a:r>
            <a:r>
              <a:rPr sz="1100" b="0">
                <a:solidFill>
                  <a:srgbClr val="F1F5F9"/>
                </a:solidFill>
                <a:latin typeface="Segoe UI"/>
              </a:rPr>
              <a:t>: Real-time status panel tracking health across all 5 microservices (`order`, `payment`, `notification`, `user`, `api-gateway`).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</a:t>
            </a:r>
            <a:r>
              <a:rPr sz="1100" b="1">
                <a:solidFill>
                  <a:srgbClr val="FFFFFF"/>
                </a:solidFill>
                <a:latin typeface="Segoe UI"/>
              </a:rPr>
              <a:t>Request Rate</a:t>
            </a:r>
            <a:r>
              <a:rPr sz="1100" b="0">
                <a:solidFill>
                  <a:srgbClr val="F1F5F9"/>
                </a:solidFill>
                <a:latin typeface="Segoe UI"/>
              </a:rPr>
              <a:t>: Per-second throughput across services.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</a:t>
            </a:r>
            <a:r>
              <a:rPr sz="1100" b="1">
                <a:solidFill>
                  <a:srgbClr val="FFFFFF"/>
                </a:solidFill>
                <a:latin typeface="Segoe UI"/>
              </a:rPr>
              <a:t>Error Rate (5xx)</a:t>
            </a:r>
            <a:r>
              <a:rPr sz="1100" b="0">
                <a:solidFill>
                  <a:srgbClr val="F1F5F9"/>
                </a:solidFill>
                <a:latin typeface="Segoe UI"/>
              </a:rPr>
              <a:t>: Instant visibility into error spikes during active faults; returns deterministically to 0 upon recovery.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</a:t>
            </a:r>
            <a:r>
              <a:rPr sz="1100" b="1">
                <a:solidFill>
                  <a:srgbClr val="FFFFFF"/>
                </a:solidFill>
                <a:latin typeface="Segoe UI"/>
              </a:rPr>
              <a:t>P95 Latency</a:t>
            </a:r>
            <a:r>
              <a:rPr sz="1100" b="0">
                <a:solidFill>
                  <a:srgbClr val="F1F5F9"/>
                </a:solidFill>
                <a:latin typeface="Segoe UI"/>
              </a:rPr>
              <a:t>: Histogram quantiles tracking delays.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</a:t>
            </a:r>
            <a:r>
              <a:rPr sz="1100" b="1">
                <a:solidFill>
                  <a:srgbClr val="FFFFFF"/>
                </a:solidFill>
                <a:latin typeface="Segoe UI"/>
              </a:rPr>
              <a:t>Live Service Logs</a:t>
            </a:r>
            <a:r>
              <a:rPr sz="1100" b="0">
                <a:solidFill>
                  <a:srgbClr val="F1F5F9"/>
                </a:solidFill>
                <a:latin typeface="Segoe UI"/>
              </a:rPr>
              <a:t>: Real-time Loki log streaming filtered by `service_name`.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Jaeger Distributed Tracing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End-to-end trace waterfalls capturing cross-service HTTP calls and pinpointing error spans.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React 19 SRE Incident Dashboard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Interactive incident timeline, evidence inventory, RCA summary, human approval card, and postmortem 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463040"/>
            <a:ext cx="530352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rafana-error-rate-sp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153" y="1536192"/>
            <a:ext cx="2809036" cy="1865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45352" y="343814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Grafana: Error Rate (5xx) Spike During Active Fault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4069080"/>
            <a:ext cx="530352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aeger-error-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153" y="4142232"/>
            <a:ext cx="2809036" cy="1865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5352" y="60441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Jaeger: Distributed Trace Waterfall Pinpointing Error Span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 Demonstration Walkthrough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Validated End-to-End Scenario: http_500_spike on payment-service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Incident &amp; Fault Identifiers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Incident ID: `INC-CD90E2` | Fault Injection ID: `FAULT-1D8A4DA5`.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Quantitative HTTP Traffic Verification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</a:t>
            </a:r>
            <a:r>
              <a:rPr sz="1100" b="1">
                <a:solidFill>
                  <a:srgbClr val="FFFFFF"/>
                </a:solidFill>
                <a:latin typeface="Segoe UI"/>
              </a:rPr>
              <a:t>Baseline</a:t>
            </a:r>
            <a:r>
              <a:rPr sz="1100" b="0">
                <a:solidFill>
                  <a:srgbClr val="F1F5F9"/>
                </a:solidFill>
                <a:latin typeface="Segoe UI"/>
              </a:rPr>
              <a:t>: 10/10 OK (100% success, avg latency: 1.116s).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</a:t>
            </a:r>
            <a:r>
              <a:rPr sz="1100" b="1">
                <a:solidFill>
                  <a:srgbClr val="FFFFFF"/>
                </a:solidFill>
                <a:latin typeface="Segoe UI"/>
              </a:rPr>
              <a:t>Fault Active</a:t>
            </a:r>
            <a:r>
              <a:rPr sz="1100" b="0">
                <a:solidFill>
                  <a:srgbClr val="F1F5F9"/>
                </a:solidFill>
                <a:latin typeface="Segoe UI"/>
              </a:rPr>
              <a:t>: 0/10 OK, 10/10 500s (100% failure, avg latency: 1.008s).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</a:t>
            </a:r>
            <a:r>
              <a:rPr sz="1100" b="1">
                <a:solidFill>
                  <a:srgbClr val="FFFFFF"/>
                </a:solidFill>
                <a:latin typeface="Segoe UI"/>
              </a:rPr>
              <a:t>Fault Cleanup</a:t>
            </a:r>
            <a:r>
              <a:rPr sz="1100" b="0">
                <a:solidFill>
                  <a:srgbClr val="F1F5F9"/>
                </a:solidFill>
                <a:latin typeface="Segoe UI"/>
              </a:rPr>
              <a:t>: 10/10 OK (100% recovered, avg latency: 1.051s).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Harvested Telemetry Evidence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`EV-TRACE-3F77AC`: 10 Jaeger traces analyzed (7 error spans identified).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`EV-CHANGE-9964BD`: Active synthetic fault metadata detected.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`EV-INFRA-5B1A7A`: Prometheus node/pod infrastructure health verified.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`EVID-KNOW-6750`: 3 relevant historical runbooks retrieved from pgvector.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Remediation Proposal &amp; Risk Gate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Proposal: `SCALE_SERVICE` for `payment-service` (`replicas: 2`).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Labeled: `[DEMO FIXTURE - MOCK_LLM]`.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Safety Gate: Classified as `MEDIUM` risk -&gt; Halts at `PENDING_APPROVAL`.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cident-remediation-propo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2089904"/>
            <a:ext cx="5065776" cy="33639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36792" y="604418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React 19 SRE Dashboard: Remediation Proposal &amp; Risk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Execution, Verification &amp; Postmortem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Deterministic Lifecycle Completion &amp; Evidence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Human Operator Approval Gate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Operator submitted approval via dashboard (`POST /incidents/{id}/approve`).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Simulated Execution Safety Boundary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Execution status: `SUCCESS` against in-memory `SIMULATED_INFRA_STATE`.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Zero Kubernetes cluster mutation: `kubectl get deployment payment-service` remained strictly at 1 replica.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Deterministic Post-Remediation Verification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Check 1 (`replica_count`): 2 replicas verified (Passed).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Check 2 (`service_health`): Healthy status verified (Passed).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Outcome: Marked `VERIFIED_SUCCESS` -&gt; Incident resolved.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250" b="0">
                <a:solidFill>
                  <a:srgbClr val="F1F5F9"/>
                </a:solidFill>
                <a:latin typeface="Segoe UI"/>
              </a:rPr>
              <a:t>• </a:t>
            </a:r>
            <a:r>
              <a:rPr sz="1250" b="1">
                <a:solidFill>
                  <a:srgbClr val="FFFFFF"/>
                </a:solidFill>
                <a:latin typeface="Segoe UI"/>
              </a:rPr>
              <a:t>Incident Replay &amp; Evaluation</a:t>
            </a:r>
            <a:r>
              <a:rPr sz="12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Evaluation Framework: `PASS` across all 4 dimensions (Investigation, RCA, Remediation, Verification).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Replay Consistency: `MATCH` (verified without historical re-execution).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100" b="0">
                <a:solidFill>
                  <a:srgbClr val="F1F5F9"/>
                </a:solidFill>
                <a:latin typeface="Segoe UI"/>
              </a:rPr>
              <a:t>– Postmortem: 9 structured sections generated deterministically.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463040"/>
            <a:ext cx="530352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mediation-approval-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153" y="1536192"/>
            <a:ext cx="2809036" cy="1865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45352" y="343814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Approval Gate &amp; Deterministic Health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4069080"/>
            <a:ext cx="530352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play-postmortem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153" y="4142232"/>
            <a:ext cx="2809036" cy="1865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5352" y="60441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Automated 9-Section SRE Incident Postmortem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Technical Testing &amp; Metric Disclosure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Evidence-Based Verification Across Test Suites &amp; Build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Kubernetes-Compatible Test Suites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152 / 152 PASSED (100% Pass Rate)</a:t>
            </a:r>
            <a:r>
              <a:rPr sz="1200" b="0">
                <a:solidFill>
                  <a:srgbClr val="F1F5F9"/>
                </a:solidFill>
                <a:latin typeface="Segoe UI"/>
              </a:rPr>
              <a:t> in 27.78 seconds.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Covers Phase 7 Knowledge Agent, Phase 8 Workflow Demo, Phase 8 Remediation, Phase 9 Verification, Phase 11 Evaluation, Phase 12 Replay/Postmortem, and Phase 13 Kubernetes architecture.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Zero Failures, Zero Skipped</a:t>
            </a:r>
            <a:r>
              <a:rPr sz="1200" b="0">
                <a:solidFill>
                  <a:srgbClr val="F1F5F9"/>
                </a:solidFill>
                <a:latin typeface="Segoe UI"/>
              </a:rPr>
              <a:t>.</a:t>
            </a:r>
          </a:p>
          <a:p>
            <a:pPr>
              <a:spcBef>
                <a:spcPts val="50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Frontend Production Build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`npm run build` completed cleanly in 1.96s with zero errors or warnings.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Full Repository Test Suite Disclosure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169 Passed, 15 Failed</a:t>
            </a:r>
            <a:r>
              <a:rPr sz="1200" b="0">
                <a:solidFill>
                  <a:srgbClr val="F1F5F9"/>
                </a:solidFill>
                <a:latin typeface="Segoe UI"/>
              </a:rPr>
              <a:t> out of 184 total tests.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Root Cause of 15 Failures</a:t>
            </a:r>
            <a:r>
              <a:rPr sz="1200" b="0">
                <a:solidFill>
                  <a:srgbClr val="F1F5F9"/>
                </a:solidFill>
                <a:latin typeface="Segoe UI"/>
              </a:rPr>
              <a:t>: Exclusively legacy Docker Compose integration tests asserting obsolete host port mappings (`BACKEND_API = 8080` vs `8000`, and direct host ports `8001-8004` which are internal Kubernetes ClusterIPs).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Zero Code Regressions</a:t>
            </a:r>
            <a:r>
              <a:rPr sz="1200" b="0">
                <a:solidFill>
                  <a:srgbClr val="F1F5F9"/>
                </a:solidFill>
                <a:latin typeface="Segoe UI"/>
              </a:rPr>
              <a:t> across all core application logic and agent orchestration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Security Architecture &amp; Operational Boundaries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Hardened Production Guardrails &amp; Local Prototype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Hardened Production Constraints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No Pod Privilege Escalation</a:t>
            </a:r>
            <a:r>
              <a:rPr sz="1200" b="0">
                <a:solidFill>
                  <a:srgbClr val="F1F5F9"/>
                </a:solidFill>
                <a:latin typeface="Segoe UI"/>
              </a:rPr>
              <a:t>: All application pods configure `automountServiceAccountToken: false`.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Zero RBAC Abuse</a:t>
            </a:r>
            <a:r>
              <a:rPr sz="1200" b="0">
                <a:solidFill>
                  <a:srgbClr val="F1F5F9"/>
                </a:solidFill>
                <a:latin typeface="Segoe UI"/>
              </a:rPr>
              <a:t>: No Kubernetes cluster-admin or service account permissions granted to application pods.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No Real Cluster Actuation</a:t>
            </a:r>
            <a:r>
              <a:rPr sz="1200" b="0">
                <a:solidFill>
                  <a:srgbClr val="F1F5F9"/>
                </a:solidFill>
                <a:latin typeface="Segoe UI"/>
              </a:rPr>
              <a:t>: LLM agents have zero access to shell commands or live Kubernetes APIs.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Allowlist Enforcement</a:t>
            </a:r>
            <a:r>
              <a:rPr sz="1200" b="0">
                <a:solidFill>
                  <a:srgbClr val="F1F5F9"/>
                </a:solidFill>
                <a:latin typeface="Segoe UI"/>
              </a:rPr>
              <a:t>: Actions strictly restricted to 3 deterministic operations (`RESTART`, `SCALE`, `ROLLBACK`).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Disclosed Local Development Boundaries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Authentication / Authorization</a:t>
            </a:r>
            <a:r>
              <a:rPr sz="1200" b="0">
                <a:solidFill>
                  <a:srgbClr val="F1F5F9"/>
                </a:solidFill>
                <a:latin typeface="Segoe UI"/>
              </a:rPr>
              <a:t>: FastAPI backend has no token-based authentication middleware (scoped for local prototype demonstration).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Default Credentials</a:t>
            </a:r>
            <a:r>
              <a:rPr sz="1200" b="0">
                <a:solidFill>
                  <a:srgbClr val="F1F5F9"/>
                </a:solidFill>
                <a:latin typeface="Segoe UI"/>
              </a:rPr>
              <a:t>: Development manifests configure default database passwords (`sentryops:sentryops`).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Insecure Metrics TLS</a:t>
            </a:r>
            <a:r>
              <a:rPr sz="1200" b="0">
                <a:solidFill>
                  <a:srgbClr val="F1F5F9"/>
                </a:solidFill>
                <a:latin typeface="Segoe UI"/>
              </a:rPr>
              <a:t>: Kind Metrics Server configured with `--kubelet-insecure-tls` for local container scraping.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Summary &amp; Future Roadmap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Key Achievements &amp; Next Steps for Production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Key Project Achievements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Complete, observable, multi-agent incident response lifecycle from alert to postmortem.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100% passing</a:t>
            </a:r>
            <a:r>
              <a:rPr sz="1200" b="0">
                <a:solidFill>
                  <a:srgbClr val="F1F5F9"/>
                </a:solidFill>
                <a:latin typeface="Segoe UI"/>
              </a:rPr>
              <a:t> Kubernetes-compatible test suites (152/152).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Deterministic safety gates preventing AI hallucination and unauthorized actuation.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Full-stack integration with Prometheus, Loki, Jaeger, Grafana, and React 19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63040"/>
            <a:ext cx="52120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Bef>
                <a:spcPts val="0"/>
              </a:spcBef>
              <a:spcAft>
                <a:spcPts val="300"/>
              </a:spcAft>
              <a:defRPr>
                <a:latin typeface="Segoe UI"/>
              </a:defRPr>
            </a:pPr>
            <a:r>
              <a:rPr sz="1350" b="0">
                <a:solidFill>
                  <a:srgbClr val="F1F5F9"/>
                </a:solidFill>
                <a:latin typeface="Segoe UI"/>
              </a:rPr>
              <a:t>• </a:t>
            </a:r>
            <a:r>
              <a:rPr sz="1350" b="1">
                <a:solidFill>
                  <a:srgbClr val="FFFFFF"/>
                </a:solidFill>
                <a:latin typeface="Segoe UI"/>
              </a:rPr>
              <a:t>Future Strategic Roadmap</a:t>
            </a:r>
            <a:r>
              <a:rPr sz="1350" b="0">
                <a:solidFill>
                  <a:srgbClr val="F1F5F9"/>
                </a:solidFill>
                <a:latin typeface="Segoe U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Production LLM Integration</a:t>
            </a:r>
            <a:r>
              <a:rPr sz="1200" b="0">
                <a:solidFill>
                  <a:srgbClr val="F1F5F9"/>
                </a:solidFill>
                <a:latin typeface="Segoe UI"/>
              </a:rPr>
              <a:t>: Connecting live models (Claude 3.5 Sonnet / GPT-4o) under the same deterministic safety gates.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Security</a:t>
            </a:r>
            <a:r>
              <a:rPr sz="1200" b="0">
                <a:solidFill>
                  <a:srgbClr val="F1F5F9"/>
                </a:solidFill>
                <a:latin typeface="Segoe UI"/>
              </a:rPr>
              <a:t>: Multi-tenant RBAC and API key authentication on incident management endpoints.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GitOps-Driven Actuation</a:t>
            </a:r>
            <a:r>
              <a:rPr sz="1200" b="0">
                <a:solidFill>
                  <a:srgbClr val="F1F5F9"/>
                </a:solidFill>
                <a:latin typeface="Segoe UI"/>
              </a:rPr>
              <a:t>: PR-based remediation proposals via ArgoCD or Flux.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>
                <a:latin typeface="Segoe UI"/>
              </a:defRPr>
            </a:pPr>
            <a:r>
              <a:rPr sz="1200" b="0">
                <a:solidFill>
                  <a:srgbClr val="F1F5F9"/>
                </a:solidFill>
                <a:latin typeface="Segoe UI"/>
              </a:rPr>
              <a:t>– </a:t>
            </a:r>
            <a:r>
              <a:rPr sz="1200" b="1">
                <a:solidFill>
                  <a:srgbClr val="FFFFFF"/>
                </a:solidFill>
                <a:latin typeface="Segoe UI"/>
              </a:rPr>
              <a:t>Cloud Observability</a:t>
            </a:r>
            <a:r>
              <a:rPr sz="1200" b="0">
                <a:solidFill>
                  <a:srgbClr val="F1F5F9"/>
                </a:solidFill>
                <a:latin typeface="Segoe UI"/>
              </a:rPr>
              <a:t>: Persistent storage provisioned on AWS EKS or GCP GKE.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Input: What Goes Into SentryOps?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Production Telemetry, Incident Signals, System Context &amp; Operational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00000"/>
            <a:ext cx="5350000" cy="5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 bIns="180000"/>
          <a:lstStyle/>
          <a:p>
            <a:pPr algn="ctr">
              <a:spcAft>
                <a:spcPts val="15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• A. </a:t>
            </a:r>
            <a:r>
              <a:rPr sz="1200" b="1">
                <a:solidFill>
                  <a:srgbClr val="FFFFFF"/>
                </a:solidFill>
                <a:latin typeface="Segoe UI"/>
              </a:rPr>
              <a:t>Production Telemetry (Continuous Observability):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Prometheus Metrics: </a:t>
            </a:r>
            <a:r>
              <a:rPr sz="1000">
                <a:solidFill>
                  <a:srgbClr val="F1F5F9"/>
                </a:solidFill>
                <a:latin typeface="Segoe UI"/>
              </a:rPr>
              <a:t>Scrapes request throughput, HTTP 5xx error rate, service health, and P95 latency across all services.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Loki Logs: </a:t>
            </a:r>
            <a:r>
              <a:rPr sz="1000">
                <a:solidFill>
                  <a:srgbClr val="F1F5F9"/>
                </a:solidFill>
                <a:latin typeface="Segoe UI"/>
              </a:rPr>
              <a:t>Streams structured application error events, stack traces, and exception details filtered by service name.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Jaeger Traces: </a:t>
            </a:r>
            <a:r>
              <a:rPr sz="1000">
                <a:solidFill>
                  <a:srgbClr val="F1F5F9"/>
                </a:solidFill>
                <a:latin typeface="Segoe UI"/>
              </a:rPr>
              <a:t>End-to-end distributed traces capturing request execution waterfalls and isolating failed downstream spans.</a:t>
            </a:r>
          </a:p>
          <a:p>
            <a:pPr>
              <a:spcBef>
                <a:spcPts val="600"/>
              </a:spcBef>
              <a:spcAft>
                <a:spcPts val="15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• B. </a:t>
            </a:r>
            <a:r>
              <a:rPr sz="1200" b="1">
                <a:solidFill>
                  <a:srgbClr val="FFFFFF"/>
                </a:solidFill>
                <a:latin typeface="Segoe UI"/>
              </a:rPr>
              <a:t>Incident &amp; Failure Signals (Anomaly Triggers):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Service Failures: </a:t>
            </a:r>
            <a:r>
              <a:rPr sz="1000">
                <a:solidFill>
                  <a:srgbClr val="F1F5F9"/>
                </a:solidFill>
                <a:latin typeface="Segoe UI"/>
              </a:rPr>
              <a:t>Live microservice outages, error surges, and HTTP 5xx spikes on upstream/downstream routes.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Latency Anomalies: </a:t>
            </a:r>
            <a:r>
              <a:rPr sz="1000">
                <a:solidFill>
                  <a:srgbClr val="F1F5F9"/>
                </a:solidFill>
                <a:latin typeface="Segoe UI"/>
              </a:rPr>
              <a:t>Degraded transaction durations and response timeout spikes detected across active endpoints.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Controlled Fault Injections: </a:t>
            </a:r>
            <a:r>
              <a:rPr sz="1000">
                <a:solidFill>
                  <a:srgbClr val="F1F5F9"/>
                </a:solidFill>
                <a:latin typeface="Segoe UI"/>
              </a:rPr>
              <a:t>Dynamic fault scenarios (`http_500_spike`, crash, latency) injected via port 8005 in controlled demo.</a:t>
            </a:r>
          </a:p>
          <a:p>
            <a:pPr>
              <a:spcBef>
                <a:spcPts val="600"/>
              </a:spcBef>
              <a:spcAft>
                <a:spcPts val="15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• C. </a:t>
            </a:r>
            <a:r>
              <a:rPr sz="1200" b="1">
                <a:solidFill>
                  <a:srgbClr val="FFFFFF"/>
                </a:solidFill>
                <a:latin typeface="Segoe UI"/>
              </a:rPr>
              <a:t>Incident Context &amp; Knowledge Base (RAG):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Incident Metadata: </a:t>
            </a:r>
            <a:r>
              <a:rPr sz="1000">
                <a:solidFill>
                  <a:srgbClr val="F1F5F9"/>
                </a:solidFill>
                <a:latin typeface="Segoe UI"/>
              </a:rPr>
              <a:t>Unique incident identifiers (`INC-CD90E2`), affected service targets, timestamp, and status.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Collected Evidence: </a:t>
            </a:r>
            <a:r>
              <a:rPr sz="1000">
                <a:solidFill>
                  <a:srgbClr val="F1F5F9"/>
                </a:solidFill>
                <a:latin typeface="Segoe UI"/>
              </a:rPr>
              <a:t>Centralized incident evidence repository aggregating linked metrics, logs, traces, and fault metadata.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Operational Runbooks: </a:t>
            </a:r>
            <a:r>
              <a:rPr sz="1000">
                <a:solidFill>
                  <a:srgbClr val="F1F5F9"/>
                </a:solidFill>
                <a:latin typeface="Segoe UI"/>
              </a:rPr>
              <a:t>Top-k historical postmortems and runbooks retrieved from PostgreSQL using pgvector similarity search.</a:t>
            </a:r>
          </a:p>
          <a:p>
            <a:pPr>
              <a:spcBef>
                <a:spcPts val="600"/>
              </a:spcBef>
              <a:spcAft>
                <a:spcPts val="15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• D. </a:t>
            </a:r>
            <a:r>
              <a:rPr sz="1200" b="1">
                <a:solidFill>
                  <a:srgbClr val="FFFFFF"/>
                </a:solidFill>
                <a:latin typeface="Segoe UI"/>
              </a:rPr>
              <a:t>Operational Constraints &amp; Policy Boundaries: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Allowlisted Actions: </a:t>
            </a:r>
            <a:r>
              <a:rPr sz="1000">
                <a:solidFill>
                  <a:srgbClr val="F1F5F9"/>
                </a:solidFill>
                <a:latin typeface="Segoe UI"/>
              </a:rPr>
              <a:t>Remediations strictly restricted to `RESTART_SERVICE`, `SCALE_SERVICE`, and `ROLLBACK_SERVICE`.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Risk Policy &amp; Safety: </a:t>
            </a:r>
            <a:r>
              <a:rPr sz="1000">
                <a:solidFill>
                  <a:srgbClr val="F1F5F9"/>
                </a:solidFill>
                <a:latin typeface="Segoe UI"/>
              </a:rPr>
              <a:t>Deterministic parameter validation schemas, risk rules (`LOW`/`MED`/`HIGH`), and approval mandates.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Execution Restrictions: </a:t>
            </a:r>
            <a:r>
              <a:rPr sz="1000">
                <a:solidFill>
                  <a:srgbClr val="F1F5F9"/>
                </a:solidFill>
                <a:latin typeface="Segoe UI"/>
              </a:rPr>
              <a:t>Simulated-only actuation boundaries; zero direct `kubectl` or cluster mutation permitted.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00000"/>
            <a:ext cx="5214823" cy="1650000"/>
          </a:xfrm>
          <a:prstGeom prst="roundRect">
            <a:avLst/>
          </a:prstGeom>
          <a:solidFill>
            <a:srgbClr val="0F233D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150000" bIns="150000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38BDF8"/>
                </a:solidFill>
                <a:latin typeface="Segoe UI"/>
              </a:rPr>
              <a:t>INGESTION &amp; INVESTIGATION PIPELINE FLOW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Metrics + Logs + Traces + Incident Context  ➔  SentryOps Investigation Pipeline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38BDF8"/>
                </a:solidFill>
                <a:latin typeface="Consolas"/>
              </a:rPr>
              <a:t>┌─────────────────────────────┐   ┌─────────────────────────────┐
│ Telemetry: Prom + Loki + Jg │ + │ Context: Faults + Runbooks  │
└──────────────┬──────────────┘   └──────────────┬──────────────┘
               └───────────────┬─────────────────┘
                               ▼
   [ LangGraph Multi-Agent Parallel Investigation Engine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3150000"/>
            <a:ext cx="5214823" cy="33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 bIns="18000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BBF24"/>
                </a:solidFill>
                <a:latin typeface="Segoe UI"/>
              </a:rPr>
              <a:t>CONCRETE DEMO INPUT EXAMPLE (INC-CD90E2)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Controlled Scenario: </a:t>
            </a:r>
            <a:r>
              <a:rPr sz="1000">
                <a:solidFill>
                  <a:srgbClr val="F1F5F9"/>
                </a:solidFill>
                <a:latin typeface="Segoe UI"/>
              </a:rPr>
              <a:t>Payment service begins returning HTTP 500 errors during controlled `http_500_spike` experiment (`FAULT-1D8A4DA5`, `error_rate: 1.0`).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Prometheus Telemetry: </a:t>
            </a:r>
            <a:r>
              <a:rPr sz="1000">
                <a:solidFill>
                  <a:srgbClr val="F1F5F9"/>
                </a:solidFill>
                <a:latin typeface="Segoe UI"/>
              </a:rPr>
              <a:t>10/10 order requests fail with HTTP 500. Error rate spikes to 100%; avg latency drops to 1.008s due to fast-failing responses.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Loki Error Logs: </a:t>
            </a:r>
            <a:r>
              <a:rPr sz="1000">
                <a:solidFill>
                  <a:srgbClr val="F1F5F9"/>
                </a:solidFill>
                <a:latin typeface="Segoe UI"/>
              </a:rPr>
              <a:t>Captures structured HTTP 500 Internal Server Error logs and exception stack traces originating from `payment-service` pod.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Jaeger Traces (`EV-TRACE-3F77AC`): </a:t>
            </a:r>
            <a:r>
              <a:rPr sz="1000">
                <a:solidFill>
                  <a:srgbClr val="F1F5F9"/>
                </a:solidFill>
                <a:latin typeface="Segoe UI"/>
              </a:rPr>
              <a:t>Harvests 10 traces across transaction graph, isolating 7 downstream HTTP spans with `error=true` tags.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Context &amp; Runbooks: </a:t>
            </a:r>
            <a:r>
              <a:rPr sz="1000">
                <a:solidFill>
                  <a:srgbClr val="F1F5F9"/>
                </a:solidFill>
                <a:latin typeface="Segoe UI"/>
              </a:rPr>
              <a:t>Correlates active synthetic fault metadata (`EV-CHANGE-9964BD`), pod health (`EV-INFRA-5B1A7A`), and 3 pgvector runbooks (`EVID-KNOW-6750`).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Output: What Does SentryOps Produce?</a:t>
            </a:r>
          </a:p>
          <a:p>
            <a:pPr>
              <a:defRPr sz="1300" b="0">
                <a:solidFill>
                  <a:srgbClr val="38BDF8"/>
                </a:solidFill>
                <a:latin typeface="Segoe UI"/>
              </a:defRPr>
            </a:pPr>
            <a:r>
              <a:t>Root Cause Diagnosis, Remediation Proposals, Safety Decisions &amp; Verification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00000"/>
            <a:ext cx="5350000" cy="5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 bIns="180000"/>
          <a:lstStyle/>
          <a:p>
            <a:pPr algn="ctr">
              <a:spcAft>
                <a:spcPts val="15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• A. </a:t>
            </a:r>
            <a:r>
              <a:rPr sz="1200" b="1">
                <a:solidFill>
                  <a:srgbClr val="FFFFFF"/>
                </a:solidFill>
                <a:latin typeface="Segoe UI"/>
              </a:rPr>
              <a:t>Incident Diagnosis &amp; Root Cause Analysis (RCA):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Incident Attribution: </a:t>
            </a:r>
            <a:r>
              <a:rPr sz="1000">
                <a:solidFill>
                  <a:srgbClr val="F1F5F9"/>
                </a:solidFill>
                <a:latin typeface="Segoe UI"/>
              </a:rPr>
              <a:t>Pinpoints affected microservice (`payment-service`), root cause classification, and confidence score.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Evidence Linkage: </a:t>
            </a:r>
            <a:r>
              <a:rPr sz="1000">
                <a:solidFill>
                  <a:srgbClr val="F1F5F9"/>
                </a:solidFill>
                <a:latin typeface="Segoe UI"/>
              </a:rPr>
              <a:t>Grounds diagnosis in verified telemetry (`EV-TRACE-3F77AC`, `EV-CHANGE-9964BD`, `EV-INFRA-5B1A7A`).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Anti-Hallucination Gate: </a:t>
            </a:r>
            <a:r>
              <a:rPr sz="1000">
                <a:solidFill>
                  <a:srgbClr val="F1F5F9"/>
                </a:solidFill>
                <a:latin typeface="Segoe UI"/>
              </a:rPr>
              <a:t>Strictly validates that all cited evidence IDs exist in the incident evidence store before finalizing RCA.</a:t>
            </a:r>
          </a:p>
          <a:p>
            <a:pPr>
              <a:spcBef>
                <a:spcPts val="600"/>
              </a:spcBef>
              <a:spcAft>
                <a:spcPts val="15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• B. </a:t>
            </a:r>
            <a:r>
              <a:rPr sz="1200" b="1">
                <a:solidFill>
                  <a:srgbClr val="FFFFFF"/>
                </a:solidFill>
                <a:latin typeface="Segoe UI"/>
              </a:rPr>
              <a:t>Structured Remediation Proposal: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Allowlisted Proposal: </a:t>
            </a:r>
            <a:r>
              <a:rPr sz="1000">
                <a:solidFill>
                  <a:srgbClr val="F1F5F9"/>
                </a:solidFill>
                <a:latin typeface="Segoe UI"/>
              </a:rPr>
              <a:t>Generates safe remediation action: `SCALE_SERVICE` for `payment-service` (`replicas: 2`).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Deterministic Risk Rating: </a:t>
            </a:r>
            <a:r>
              <a:rPr sz="1000">
                <a:solidFill>
                  <a:srgbClr val="F1F5F9"/>
                </a:solidFill>
                <a:latin typeface="Segoe UI"/>
              </a:rPr>
              <a:t>Classified as `MEDIUM` risk by non-LLM policy engine based on parameter scope.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Mandatory Human Gate: </a:t>
            </a:r>
            <a:r>
              <a:rPr sz="1000">
                <a:solidFill>
                  <a:srgbClr val="F1F5F9"/>
                </a:solidFill>
                <a:latin typeface="Segoe UI"/>
              </a:rPr>
              <a:t>Enforces `requires_approval: true`, automatically halting workflow at `PENDING_APPROVAL`.</a:t>
            </a:r>
          </a:p>
          <a:p>
            <a:pPr>
              <a:spcBef>
                <a:spcPts val="600"/>
              </a:spcBef>
              <a:spcAft>
                <a:spcPts val="15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• C. </a:t>
            </a:r>
            <a:r>
              <a:rPr sz="1200" b="1">
                <a:solidFill>
                  <a:srgbClr val="FFFFFF"/>
                </a:solidFill>
                <a:latin typeface="Segoe UI"/>
              </a:rPr>
              <a:t>Safety Decision &amp; Execution Result: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Approval / Rejection Status: </a:t>
            </a:r>
            <a:r>
              <a:rPr sz="1000">
                <a:solidFill>
                  <a:srgbClr val="F1F5F9"/>
                </a:solidFill>
                <a:latin typeface="Segoe UI"/>
              </a:rPr>
              <a:t>Audit trail records operator decision (`APPROVED` or `REJECTED`) with decision timestamps.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Simulated Execution Status: </a:t>
            </a:r>
            <a:r>
              <a:rPr sz="1000">
                <a:solidFill>
                  <a:srgbClr val="F1F5F9"/>
                </a:solidFill>
                <a:latin typeface="Segoe UI"/>
              </a:rPr>
              <a:t>Execution status: `SUCCESS` applied strictly against in-memory `SIMULATED_INFRA_STATE`.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No Live Cluster Mutation: </a:t>
            </a:r>
            <a:r>
              <a:rPr sz="1000">
                <a:solidFill>
                  <a:srgbClr val="F1F5F9"/>
                </a:solidFill>
                <a:latin typeface="Segoe UI"/>
              </a:rPr>
              <a:t>Explicit boundary: Remediation updates simulated state only; `kubectl get deployment` remains at 1 replica.</a:t>
            </a:r>
          </a:p>
          <a:p>
            <a:pPr>
              <a:spcBef>
                <a:spcPts val="600"/>
              </a:spcBef>
              <a:spcAft>
                <a:spcPts val="15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• D. </a:t>
            </a:r>
            <a:r>
              <a:rPr sz="1200" b="1">
                <a:solidFill>
                  <a:srgbClr val="FFFFFF"/>
                </a:solidFill>
                <a:latin typeface="Segoe UI"/>
              </a:rPr>
              <a:t>Verification &amp; Incident Outcome: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Deterministic Verification: </a:t>
            </a:r>
            <a:r>
              <a:rPr sz="1000">
                <a:solidFill>
                  <a:srgbClr val="F1F5F9"/>
                </a:solidFill>
                <a:latin typeface="Segoe UI"/>
              </a:rPr>
              <a:t>Automated checks confirm simulated replica count (2) and healthy status (`VERIFIED_SUCCESS`).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Lifecycle Resolution: </a:t>
            </a:r>
            <a:r>
              <a:rPr sz="1000">
                <a:solidFill>
                  <a:srgbClr val="F1F5F9"/>
                </a:solidFill>
                <a:latin typeface="Segoe UI"/>
              </a:rPr>
              <a:t>Approved incidents transition to `RESOLVED`; rejected incidents cancel execution and remain `INVESTIGATING`.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Segoe UI"/>
              </a:rPr>
              <a:t>   – </a:t>
            </a:r>
            <a:r>
              <a:rPr sz="1000" b="1">
                <a:solidFill>
                  <a:srgbClr val="FFFFFF"/>
                </a:solidFill>
                <a:latin typeface="Segoe UI"/>
              </a:rPr>
              <a:t>Audit Postmortem &amp; Evaluation: </a:t>
            </a:r>
            <a:r>
              <a:rPr sz="1000">
                <a:solidFill>
                  <a:srgbClr val="F1F5F9"/>
                </a:solidFill>
                <a:latin typeface="Segoe UI"/>
              </a:rPr>
              <a:t>Generates 9-section structured postmortem deterministically; passes all 4 evaluation dimensions.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400000"/>
            <a:ext cx="5214823" cy="1750000"/>
          </a:xfrm>
          <a:prstGeom prst="roundRect">
            <a:avLst/>
          </a:prstGeom>
          <a:solidFill>
            <a:srgbClr val="0F233D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150000" bIns="150000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34D399"/>
                </a:solidFill>
                <a:latin typeface="Segoe UI"/>
              </a:rPr>
              <a:t>OUTPUT &amp; SAFETY DECISION LIFECYCLE FLOW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Incident Evidence ➔ Diagnosis ➔ Proposal ➔ [ Human Approval Gate ] ➔ Result</a:t>
            </a:r>
          </a:p>
          <a:p>
            <a:pPr>
              <a:spcAft>
                <a:spcPts val="200"/>
              </a:spcAft>
            </a:pPr>
            <a:r>
              <a:rPr sz="800">
                <a:solidFill>
                  <a:srgbClr val="34D399"/>
                </a:solidFill>
                <a:latin typeface="Consolas"/>
              </a:rPr>
              <a:t>  ┌──────────────┐     ┌──────────────┐     ┌──────────────────────┐
  │  Diagnosis   │ ──► │  Remediation │ ──► │ 🛡 Human Approval Gate│
  │  (RCA Proof) │     │   Proposal   │     │ (Mandatory for Med/Hi)│
  └──────────────┘     └──────────────┘     └──────────┬───────────┘
    [ APPROVED ] ──► Simulated Exec ──► Verification Checks ──► RESOLVED
    [ REJECTED ] ──► Action Cancelled (null) ──► Stays in INVESTIGATING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3250000"/>
            <a:ext cx="5214823" cy="32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 bIns="180000"/>
          <a:lstStyle/>
          <a:p>
            <a:pPr algn="ctr">
              <a:spcAft>
                <a:spcPts val="500"/>
              </a:spcAft>
            </a:pPr>
            <a:r>
              <a:rPr sz="1150" b="1">
                <a:solidFill>
                  <a:srgbClr val="FBBF24"/>
                </a:solidFill>
                <a:latin typeface="Segoe UI"/>
              </a:rPr>
              <a:t>CONCRETE DEMO OUTPUT &amp; RECOVERY LIFECYCLE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Diagnosis &amp; Proposal: </a:t>
            </a:r>
            <a:r>
              <a:rPr sz="1000">
                <a:solidFill>
                  <a:srgbClr val="F1F5F9"/>
                </a:solidFill>
                <a:latin typeface="Segoe UI"/>
              </a:rPr>
              <a:t>RCA diagnosed payment-service failure. Proposed `SCALE_SERVICE` (replicas: 2), rated `MEDIUM` risk (`PENDING_APPROVAL`).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Approval Path (`INC-CD90E2`): </a:t>
            </a:r>
            <a:r>
              <a:rPr sz="1000">
                <a:solidFill>
                  <a:srgbClr val="F1F5F9"/>
                </a:solidFill>
                <a:latin typeface="Segoe UI"/>
              </a:rPr>
              <a:t>Operator approved (`POST /approve`) ➔ status `APPROVED` ➔ updated simulated state (`SUCCESS`) ➔ verified healthy ➔ status `RESOLVED`.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Rejection Path (`INC-28EE86`): </a:t>
            </a:r>
            <a:r>
              <a:rPr sz="1000">
                <a:solidFill>
                  <a:srgbClr val="F1F5F9"/>
                </a:solidFill>
                <a:latin typeface="Segoe UI"/>
              </a:rPr>
              <a:t>Operator rejected (`POST /reject`) ➔ status `REJECTED` ➔ execution cancelled (`null`) ➔ verification skipped ➔ remains `INVESTIGATING`.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Simulated vs Real Actuation: </a:t>
            </a:r>
            <a:r>
              <a:rPr sz="1000">
                <a:solidFill>
                  <a:srgbClr val="F1F5F9"/>
                </a:solidFill>
                <a:latin typeface="Segoe UI"/>
              </a:rPr>
              <a:t>Remediation executor updated in-memory simulated state only. Live cluster deployment (`payment-service`) remained strictly at 1 replica.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• Actual Live Recovery Truth: </a:t>
            </a:r>
            <a:r>
              <a:rPr sz="1000">
                <a:solidFill>
                  <a:srgbClr val="F1F5F9"/>
                </a:solidFill>
                <a:latin typeface="Segoe UI"/>
              </a:rPr>
              <a:t>Live HTTP traffic recovered (10/10 OK, 1.051s latency) strictly following explicit fault cleanup (`POST /cleanup`), NOT from simulated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